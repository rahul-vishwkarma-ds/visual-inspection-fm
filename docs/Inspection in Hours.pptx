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promise, not the technology. The one sentence that has to land: today a factory spends four to eight weeks building a detector for every new part, and we turn that into an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slide. The jury needs to feel the repetition: it is not that inspection is hard once, it is that it is hard every single time the product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analogy that works in a room: this is hiring an inspector with twenty years across four hundred factories, instead of training a new graduate from zero every time the product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caveat out loud rather than hoping nobody checks. Naming which numbers are borrowed and which one you will measure yourself is what makes the rest of the deck believable. The amber tile is the claim the ninety-day plan is built to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being two engineers pays off. If anyone digs, you can go deeper on frozen backbones and adapter heads — but lead with the one-sentence version on the band at the bottom, and only go technical if invited.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API response is deliberate: it shows a jury that you have thought about what the line actually receives, not just what the model predicts. If asked about on-premise, agree quickly that it is required for many plants and that it is a phase-two build, not a phase-one blocker.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the challenge that usage pricing makes revenue unpredictable. Agree, then reframe: at this stage adoption matters more than predictability, and the token meter gives us real usage data to price properly in version two. These figures are a starting hypothesis, tested in month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bottom band is the most important sentence in the deck. Volunteering your own stop condition is what separates a team asking for trust from a team proposing an experiment. Expect it to be the thing a juror remembers.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this and stop talking. Do not add a thank-you slide or a summary after it. If there is time for questions, the plan slide is the one to go back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783" y="812783"/>
            <a:ext cx="10883426" cy="233437"/>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E0A03C"/>
                </a:solidFill>
                <a:latin typeface="IBM Plex Sans" pitchFamily="34" charset="0"/>
                <a:ea typeface="IBM Plex Sans" pitchFamily="34" charset="-122"/>
                <a:cs typeface="IBM Plex Sans" pitchFamily="34" charset="-120"/>
              </a:rPr>
              <a:t>BOSCH × CREATIVE DOCK · HACKATHON BERLIN</a:t>
            </a:r>
            <a:endParaRPr lang="en-US" sz="1300" dirty="0"/>
          </a:p>
        </p:txBody>
      </p:sp>
      <p:sp>
        <p:nvSpPr>
          <p:cNvPr id="3" name="Text 1"/>
          <p:cNvSpPr/>
          <p:nvPr/>
        </p:nvSpPr>
        <p:spPr>
          <a:xfrm>
            <a:off x="812783" y="1896730"/>
            <a:ext cx="10883426" cy="1873300"/>
          </a:xfrm>
          <a:prstGeom prst="rect">
            <a:avLst/>
          </a:prstGeom>
          <a:noFill/>
          <a:ln/>
        </p:spPr>
        <p:txBody>
          <a:bodyPr wrap="square" lIns="0" tIns="0" rIns="0" bIns="0" rtlCol="0" anchor="t">
            <a:normAutofit/>
          </a:bodyPr>
          <a:lstStyle/>
          <a:p>
            <a:pPr algn="l" indent="0" marL="0">
              <a:lnSpc>
                <a:spcPts val="8084"/>
              </a:lnSpc>
              <a:buNone/>
            </a:pPr>
            <a:r>
              <a:rPr lang="en-US" sz="8600" b="1" spc="-100" kern="0" dirty="0">
                <a:solidFill>
                  <a:srgbClr val="F3F5F6"/>
                </a:solidFill>
                <a:latin typeface="Barlow Condensed" pitchFamily="34" charset="0"/>
                <a:ea typeface="Barlow Condensed" pitchFamily="34" charset="-122"/>
                <a:cs typeface="Barlow Condensed" pitchFamily="34" charset="-120"/>
              </a:rPr>
              <a:t>Inspection in hours,</a:t>
            </a:r>
            <a:endParaRPr lang="en-US" sz="8600" dirty="0"/>
          </a:p>
          <a:p>
            <a:pPr algn="l" indent="0" marL="0">
              <a:lnSpc>
                <a:spcPts val="8084"/>
              </a:lnSpc>
              <a:buNone/>
            </a:pPr>
            <a:r>
              <a:rPr lang="en-US" sz="8600" b="1" spc="-100" kern="0" dirty="0">
                <a:solidFill>
                  <a:srgbClr val="F3F5F6"/>
                </a:solidFill>
                <a:latin typeface="Barlow Condensed" pitchFamily="34" charset="0"/>
                <a:ea typeface="Barlow Condensed" pitchFamily="34" charset="-122"/>
                <a:cs typeface="Barlow Condensed" pitchFamily="34" charset="-120"/>
              </a:rPr>
              <a:t>not months</a:t>
            </a:r>
            <a:endParaRPr lang="en-US" sz="8600" dirty="0"/>
          </a:p>
        </p:txBody>
      </p:sp>
      <p:sp>
        <p:nvSpPr>
          <p:cNvPr id="4" name="Text 2"/>
          <p:cNvSpPr/>
          <p:nvPr/>
        </p:nvSpPr>
        <p:spPr>
          <a:xfrm>
            <a:off x="812783" y="3973197"/>
            <a:ext cx="8175625" cy="997474"/>
          </a:xfrm>
          <a:prstGeom prst="rect">
            <a:avLst/>
          </a:prstGeom>
          <a:noFill/>
          <a:ln/>
        </p:spPr>
        <p:txBody>
          <a:bodyPr wrap="square" lIns="0" tIns="0" rIns="0" bIns="0" rtlCol="0" anchor="t">
            <a:normAutofit/>
          </a:bodyPr>
          <a:lstStyle/>
          <a:p>
            <a:pPr algn="l" indent="0" marL="0">
              <a:lnSpc>
                <a:spcPts val="2835"/>
              </a:lnSpc>
              <a:buNone/>
            </a:pPr>
            <a:r>
              <a:rPr lang="en-US" sz="2100" dirty="0">
                <a:solidFill>
                  <a:srgbClr val="A8BAC6"/>
                </a:solidFill>
                <a:latin typeface="IBM Plex Sans" pitchFamily="34" charset="0"/>
                <a:ea typeface="IBM Plex Sans" pitchFamily="34" charset="-122"/>
                <a:cs typeface="IBM Plex Sans" pitchFamily="34" charset="-120"/>
              </a:rPr>
              <a:t>A defect-detection foundation model, pre-trained on real plant data and delivered as an API. Upload a hundred photos, inspect the next part off the line.</a:t>
            </a:r>
            <a:endParaRPr lang="en-US" sz="2100" dirty="0"/>
          </a:p>
        </p:txBody>
      </p:sp>
      <p:sp>
        <p:nvSpPr>
          <p:cNvPr id="5" name="Text 3"/>
          <p:cNvSpPr/>
          <p:nvPr/>
        </p:nvSpPr>
        <p:spPr>
          <a:xfrm>
            <a:off x="812783" y="5821180"/>
            <a:ext cx="2097711" cy="24943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BAC6"/>
                </a:solidFill>
                <a:latin typeface="IBM Plex Sans" pitchFamily="34" charset="0"/>
                <a:ea typeface="IBM Plex Sans" pitchFamily="34" charset="-122"/>
                <a:cs typeface="IBM Plex Sans" pitchFamily="34" charset="-120"/>
              </a:rPr>
              <a:t>[Your name] · [Co-lead name]</a:t>
            </a:r>
            <a:endParaRPr lang="en-US" sz="1400" dirty="0"/>
          </a:p>
        </p:txBody>
      </p:sp>
      <p:sp>
        <p:nvSpPr>
          <p:cNvPr id="6" name="Text 4"/>
          <p:cNvSpPr/>
          <p:nvPr/>
        </p:nvSpPr>
        <p:spPr>
          <a:xfrm>
            <a:off x="10965136" y="5821180"/>
            <a:ext cx="464880" cy="24943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A8BAC6"/>
                </a:solidFill>
                <a:latin typeface="IBM Plex Sans" pitchFamily="34" charset="0"/>
                <a:ea typeface="IBM Plex Sans" pitchFamily="34" charset="-122"/>
                <a:cs typeface="IBM Plex Sans" pitchFamily="34" charset="-120"/>
              </a:rPr>
              <a:t>[Date]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6"/>
        </a:solidFill>
      </p:bgPr>
    </p:bg>
    <p:spTree>
      <p:nvGrpSpPr>
        <p:cNvPr id="1" name=""/>
        <p:cNvGrpSpPr/>
        <p:nvPr/>
      </p:nvGrpSpPr>
      <p:grpSpPr>
        <a:xfrm>
          <a:off x="0" y="0"/>
          <a:ext cx="0" cy="0"/>
          <a:chOff x="0" y="0"/>
          <a:chExt cx="0" cy="0"/>
        </a:xfrm>
      </p:grpSpPr>
      <p:sp>
        <p:nvSpPr>
          <p:cNvPr id="2" name="Text 0"/>
          <p:cNvSpPr/>
          <p:nvPr/>
        </p:nvSpPr>
        <p:spPr>
          <a:xfrm>
            <a:off x="812783" y="812783"/>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101820"/>
                </a:solidFill>
                <a:latin typeface="Barlow Condensed" pitchFamily="34" charset="0"/>
                <a:ea typeface="Barlow Condensed" pitchFamily="34" charset="-122"/>
                <a:cs typeface="Barlow Condensed" pitchFamily="34" charset="-120"/>
              </a:rPr>
              <a:t>Every factory builds this from scratch</a:t>
            </a:r>
            <a:endParaRPr lang="en-US" sz="4400" dirty="0"/>
          </a:p>
        </p:txBody>
      </p:sp>
      <p:sp>
        <p:nvSpPr>
          <p:cNvPr id="3" name="Text 1"/>
          <p:cNvSpPr/>
          <p:nvPr/>
        </p:nvSpPr>
        <p:spPr>
          <a:xfrm>
            <a:off x="812783" y="1584799"/>
            <a:ext cx="9483725" cy="601471"/>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4C5A66"/>
                </a:solidFill>
                <a:latin typeface="IBM Plex Sans" pitchFamily="34" charset="0"/>
                <a:ea typeface="IBM Plex Sans" pitchFamily="34" charset="-122"/>
                <a:cs typeface="IBM Plex Sans" pitchFamily="34" charset="-120"/>
              </a:rPr>
              <a:t>Thousands of labelled defect photos. Weeks of collection. Months of tuning. Then the product changes, and it all starts again.</a:t>
            </a:r>
            <a:endParaRPr lang="en-US" sz="1800" dirty="0"/>
          </a:p>
        </p:txBody>
      </p:sp>
      <p:sp>
        <p:nvSpPr>
          <p:cNvPr id="4" name="Shape 2"/>
          <p:cNvSpPr/>
          <p:nvPr/>
        </p:nvSpPr>
        <p:spPr>
          <a:xfrm>
            <a:off x="815958" y="2418045"/>
            <a:ext cx="3397258" cy="1420031"/>
          </a:xfrm>
          <a:prstGeom prst="roundRect">
            <a:avLst>
              <a:gd name="adj" fmla="val 5142"/>
            </a:avLst>
          </a:prstGeom>
          <a:solidFill>
            <a:srgbClr val="FFFFFF"/>
          </a:solidFill>
          <a:ln w="6350">
            <a:solidFill>
              <a:srgbClr val="D9E0E4"/>
            </a:solidFill>
            <a:prstDash val="solid"/>
          </a:ln>
        </p:spPr>
      </p:sp>
      <p:sp>
        <p:nvSpPr>
          <p:cNvPr id="5" name="Text 3"/>
          <p:cNvSpPr/>
          <p:nvPr/>
        </p:nvSpPr>
        <p:spPr>
          <a:xfrm>
            <a:off x="1046669" y="2648756"/>
            <a:ext cx="3023911" cy="45976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101820"/>
                </a:solidFill>
                <a:latin typeface="Barlow Condensed" pitchFamily="34" charset="0"/>
                <a:ea typeface="Barlow Condensed" pitchFamily="34" charset="-122"/>
                <a:cs typeface="Barlow Condensed" pitchFamily="34" charset="-120"/>
              </a:rPr>
              <a:t>4–8 weeks</a:t>
            </a:r>
            <a:endParaRPr lang="en-US" sz="3800" dirty="0"/>
          </a:p>
        </p:txBody>
      </p:sp>
      <p:sp>
        <p:nvSpPr>
          <p:cNvPr id="6" name="Text 4"/>
          <p:cNvSpPr/>
          <p:nvPr/>
        </p:nvSpPr>
        <p:spPr>
          <a:xfrm>
            <a:off x="1046669" y="3159291"/>
            <a:ext cx="3023911" cy="4734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A66"/>
                </a:solidFill>
                <a:latin typeface="IBM Plex Sans" pitchFamily="34" charset="0"/>
                <a:ea typeface="IBM Plex Sans" pitchFamily="34" charset="-122"/>
                <a:cs typeface="IBM Plex Sans" pitchFamily="34" charset="-120"/>
              </a:rPr>
              <a:t>of engineering for every new part that comes down the line</a:t>
            </a:r>
            <a:endParaRPr lang="en-US" sz="1400" dirty="0"/>
          </a:p>
        </p:txBody>
      </p:sp>
      <p:sp>
        <p:nvSpPr>
          <p:cNvPr id="7" name="Shape 5"/>
          <p:cNvSpPr/>
          <p:nvPr/>
        </p:nvSpPr>
        <p:spPr>
          <a:xfrm>
            <a:off x="4397350" y="2418045"/>
            <a:ext cx="3397300" cy="1420031"/>
          </a:xfrm>
          <a:prstGeom prst="roundRect">
            <a:avLst>
              <a:gd name="adj" fmla="val 5142"/>
            </a:avLst>
          </a:prstGeom>
          <a:solidFill>
            <a:srgbClr val="FFFFFF"/>
          </a:solidFill>
          <a:ln w="6350">
            <a:solidFill>
              <a:srgbClr val="D9E0E4"/>
            </a:solidFill>
            <a:prstDash val="solid"/>
          </a:ln>
        </p:spPr>
      </p:sp>
      <p:sp>
        <p:nvSpPr>
          <p:cNvPr id="8" name="Text 6"/>
          <p:cNvSpPr/>
          <p:nvPr/>
        </p:nvSpPr>
        <p:spPr>
          <a:xfrm>
            <a:off x="4628061" y="2648756"/>
            <a:ext cx="3023954" cy="45976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101820"/>
                </a:solidFill>
                <a:latin typeface="Barlow Condensed" pitchFamily="34" charset="0"/>
                <a:ea typeface="Barlow Condensed" pitchFamily="34" charset="-122"/>
                <a:cs typeface="Barlow Condensed" pitchFamily="34" charset="-120"/>
              </a:rPr>
              <a:t>€20–40k</a:t>
            </a:r>
            <a:endParaRPr lang="en-US" sz="3800" dirty="0"/>
          </a:p>
        </p:txBody>
      </p:sp>
      <p:sp>
        <p:nvSpPr>
          <p:cNvPr id="9" name="Text 7"/>
          <p:cNvSpPr/>
          <p:nvPr/>
        </p:nvSpPr>
        <p:spPr>
          <a:xfrm>
            <a:off x="4628061" y="3159291"/>
            <a:ext cx="3023954" cy="4734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A66"/>
                </a:solidFill>
                <a:latin typeface="IBM Plex Sans" pitchFamily="34" charset="0"/>
                <a:ea typeface="IBM Plex Sans" pitchFamily="34" charset="-122"/>
                <a:cs typeface="IBM Plex Sans" pitchFamily="34" charset="-120"/>
              </a:rPr>
              <a:t>the cost of each one, before a single defect is caught</a:t>
            </a:r>
            <a:endParaRPr lang="en-US" sz="1400" dirty="0"/>
          </a:p>
        </p:txBody>
      </p:sp>
      <p:sp>
        <p:nvSpPr>
          <p:cNvPr id="10" name="Shape 8"/>
          <p:cNvSpPr/>
          <p:nvPr/>
        </p:nvSpPr>
        <p:spPr>
          <a:xfrm>
            <a:off x="7978783" y="2418045"/>
            <a:ext cx="3397258" cy="1420031"/>
          </a:xfrm>
          <a:prstGeom prst="roundRect">
            <a:avLst>
              <a:gd name="adj" fmla="val 5142"/>
            </a:avLst>
          </a:prstGeom>
          <a:solidFill>
            <a:srgbClr val="FFFFFF"/>
          </a:solidFill>
          <a:ln w="6350">
            <a:solidFill>
              <a:srgbClr val="D9E0E4"/>
            </a:solidFill>
            <a:prstDash val="solid"/>
          </a:ln>
        </p:spPr>
      </p:sp>
      <p:sp>
        <p:nvSpPr>
          <p:cNvPr id="11" name="Text 9"/>
          <p:cNvSpPr/>
          <p:nvPr/>
        </p:nvSpPr>
        <p:spPr>
          <a:xfrm>
            <a:off x="8209494" y="2648756"/>
            <a:ext cx="3023911" cy="459760"/>
          </a:xfrm>
          <a:prstGeom prst="rect">
            <a:avLst/>
          </a:prstGeom>
          <a:noFill/>
          <a:ln/>
        </p:spPr>
        <p:txBody>
          <a:bodyPr wrap="square" lIns="0" tIns="0" rIns="0" bIns="0" rtlCol="0" anchor="t">
            <a:normAutofit/>
          </a:bodyPr>
          <a:lstStyle/>
          <a:p>
            <a:pPr algn="l" indent="0" marL="0">
              <a:lnSpc>
                <a:spcPts val="3800"/>
              </a:lnSpc>
              <a:buNone/>
            </a:pPr>
            <a:r>
              <a:rPr lang="en-US" sz="3800" b="1" dirty="0">
                <a:solidFill>
                  <a:srgbClr val="101820"/>
                </a:solidFill>
                <a:latin typeface="Barlow Condensed" pitchFamily="34" charset="0"/>
                <a:ea typeface="Barlow Condensed" pitchFamily="34" charset="-122"/>
                <a:cs typeface="Barlow Condensed" pitchFamily="34" charset="-120"/>
              </a:rPr>
              <a:t>100× a year</a:t>
            </a:r>
            <a:endParaRPr lang="en-US" sz="3800" dirty="0"/>
          </a:p>
        </p:txBody>
      </p:sp>
      <p:sp>
        <p:nvSpPr>
          <p:cNvPr id="12" name="Text 10"/>
          <p:cNvSpPr/>
          <p:nvPr/>
        </p:nvSpPr>
        <p:spPr>
          <a:xfrm>
            <a:off x="8209494" y="3159291"/>
            <a:ext cx="3023911" cy="473474"/>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C5A66"/>
                </a:solidFill>
                <a:latin typeface="IBM Plex Sans" pitchFamily="34" charset="0"/>
                <a:ea typeface="IBM Plex Sans" pitchFamily="34" charset="-122"/>
                <a:cs typeface="IBM Plex Sans" pitchFamily="34" charset="-120"/>
              </a:rPr>
              <a:t>a large plant changes over — and repeats the whole exercise</a:t>
            </a:r>
            <a:endParaRPr lang="en-US" sz="1400" dirty="0"/>
          </a:p>
        </p:txBody>
      </p:sp>
      <p:sp>
        <p:nvSpPr>
          <p:cNvPr id="13" name="Shape 11"/>
          <p:cNvSpPr/>
          <p:nvPr/>
        </p:nvSpPr>
        <p:spPr>
          <a:xfrm>
            <a:off x="812783" y="4095251"/>
            <a:ext cx="10566433" cy="827328"/>
          </a:xfrm>
          <a:prstGeom prst="roundRect">
            <a:avLst>
              <a:gd name="adj" fmla="val 3070"/>
            </a:avLst>
          </a:prstGeom>
          <a:solidFill>
            <a:srgbClr val="E7ECEF"/>
          </a:solidFill>
          <a:ln/>
        </p:spPr>
      </p:sp>
      <p:sp>
        <p:nvSpPr>
          <p:cNvPr id="14" name="Shape 12"/>
          <p:cNvSpPr/>
          <p:nvPr/>
        </p:nvSpPr>
        <p:spPr>
          <a:xfrm>
            <a:off x="825483" y="4095251"/>
            <a:ext cx="0" cy="827328"/>
          </a:xfrm>
          <a:prstGeom prst="line">
            <a:avLst/>
          </a:prstGeom>
          <a:noFill/>
          <a:ln w="25400">
            <a:solidFill>
              <a:srgbClr val="9A6410"/>
            </a:solidFill>
            <a:prstDash val="solid"/>
          </a:ln>
        </p:spPr>
      </p:sp>
      <p:sp>
        <p:nvSpPr>
          <p:cNvPr id="15" name="Text 13"/>
          <p:cNvSpPr/>
          <p:nvPr/>
        </p:nvSpPr>
        <p:spPr>
          <a:xfrm>
            <a:off x="1039920" y="4260351"/>
            <a:ext cx="10440179" cy="52252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01820"/>
                </a:solidFill>
                <a:latin typeface="IBM Plex Sans" pitchFamily="34" charset="0"/>
                <a:ea typeface="IBM Plex Sans" pitchFamily="34" charset="-122"/>
                <a:cs typeface="IBM Plex Sans" pitchFamily="34" charset="-120"/>
              </a:rPr>
              <a:t>Generic vision vendors have no industrial defect data, so they are weakest exactly where it matters — the rare defects that reach a customer.</a:t>
            </a:r>
            <a:endParaRPr lang="en-US" sz="1500" dirty="0"/>
          </a:p>
        </p:txBody>
      </p:sp>
      <p:sp>
        <p:nvSpPr>
          <p:cNvPr id="16" name="Text 14"/>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5F6"/>
        </a:solidFill>
      </p:bgPr>
    </p:bg>
    <p:spTree>
      <p:nvGrpSpPr>
        <p:cNvPr id="1" name=""/>
        <p:cNvGrpSpPr/>
        <p:nvPr/>
      </p:nvGrpSpPr>
      <p:grpSpPr>
        <a:xfrm>
          <a:off x="0" y="0"/>
          <a:ext cx="0" cy="0"/>
          <a:chOff x="0" y="0"/>
          <a:chExt cx="0" cy="0"/>
        </a:xfrm>
      </p:grpSpPr>
      <p:sp>
        <p:nvSpPr>
          <p:cNvPr id="2" name="Text 0"/>
          <p:cNvSpPr/>
          <p:nvPr/>
        </p:nvSpPr>
        <p:spPr>
          <a:xfrm>
            <a:off x="812783" y="812783"/>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101820"/>
                </a:solidFill>
                <a:latin typeface="Barlow Condensed" pitchFamily="34" charset="0"/>
                <a:ea typeface="Barlow Condensed" pitchFamily="34" charset="-122"/>
                <a:cs typeface="Barlow Condensed" pitchFamily="34" charset="-120"/>
              </a:rPr>
              <a:t>What we are solving</a:t>
            </a:r>
            <a:endParaRPr lang="en-US" sz="4400" dirty="0"/>
          </a:p>
        </p:txBody>
      </p:sp>
      <p:sp>
        <p:nvSpPr>
          <p:cNvPr id="3" name="Text 1"/>
          <p:cNvSpPr/>
          <p:nvPr/>
        </p:nvSpPr>
        <p:spPr>
          <a:xfrm>
            <a:off x="812783" y="1584798"/>
            <a:ext cx="9810750" cy="611778"/>
          </a:xfrm>
          <a:prstGeom prst="rect">
            <a:avLst/>
          </a:prstGeom>
          <a:noFill/>
          <a:ln/>
        </p:spPr>
        <p:txBody>
          <a:bodyPr wrap="square" lIns="0" tIns="0" rIns="0" bIns="0" rtlCol="0" anchor="t">
            <a:normAutofit/>
          </a:bodyPr>
          <a:lstStyle/>
          <a:p>
            <a:pPr algn="l" indent="0" marL="0">
              <a:lnSpc>
                <a:spcPts val="2565"/>
              </a:lnSpc>
              <a:buNone/>
            </a:pPr>
            <a:r>
              <a:rPr lang="en-US" sz="1900" dirty="0">
                <a:solidFill>
                  <a:srgbClr val="15618F"/>
                </a:solidFill>
                <a:latin typeface="IBM Plex Sans" pitchFamily="34" charset="0"/>
                <a:ea typeface="IBM Plex Sans" pitchFamily="34" charset="-122"/>
                <a:cs typeface="IBM Plex Sans" pitchFamily="34" charset="-120"/>
              </a:rPr>
              <a:t>Stop building a new detector for every product. Teach one that already understands what a defect looks like.</a:t>
            </a:r>
            <a:endParaRPr lang="en-US" sz="1900" dirty="0"/>
          </a:p>
        </p:txBody>
      </p:sp>
      <p:sp>
        <p:nvSpPr>
          <p:cNvPr id="4" name="Shape 2"/>
          <p:cNvSpPr/>
          <p:nvPr/>
        </p:nvSpPr>
        <p:spPr>
          <a:xfrm>
            <a:off x="812783" y="2425176"/>
            <a:ext cx="5181608" cy="1871837"/>
          </a:xfrm>
          <a:prstGeom prst="roundRect">
            <a:avLst>
              <a:gd name="adj" fmla="val 4071"/>
            </a:avLst>
          </a:prstGeom>
          <a:solidFill>
            <a:srgbClr val="E7ECEF"/>
          </a:solidFill>
          <a:ln/>
        </p:spPr>
      </p:sp>
      <p:sp>
        <p:nvSpPr>
          <p:cNvPr id="5" name="Text 3"/>
          <p:cNvSpPr/>
          <p:nvPr/>
        </p:nvSpPr>
        <p:spPr>
          <a:xfrm>
            <a:off x="1066783" y="2679176"/>
            <a:ext cx="4813816"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7C8B96"/>
                </a:solidFill>
                <a:latin typeface="IBM Plex Sans" pitchFamily="34" charset="0"/>
                <a:ea typeface="IBM Plex Sans" pitchFamily="34" charset="-122"/>
                <a:cs typeface="IBM Plex Sans" pitchFamily="34" charset="-120"/>
              </a:rPr>
              <a:t>TODAY</a:t>
            </a:r>
            <a:endParaRPr lang="en-US" sz="1300" dirty="0"/>
          </a:p>
        </p:txBody>
      </p:sp>
      <p:sp>
        <p:nvSpPr>
          <p:cNvPr id="6" name="Text 4"/>
          <p:cNvSpPr/>
          <p:nvPr/>
        </p:nvSpPr>
        <p:spPr>
          <a:xfrm>
            <a:off x="1066783" y="3014213"/>
            <a:ext cx="4813816" cy="1054200"/>
          </a:xfrm>
          <a:prstGeom prst="rect">
            <a:avLst/>
          </a:prstGeom>
          <a:noFill/>
          <a:ln/>
        </p:spPr>
        <p:txBody>
          <a:bodyPr wrap="square" lIns="0" tIns="0" rIns="0" bIns="0" rtlCol="0" anchor="t">
            <a:normAutofit/>
          </a:bodyPr>
          <a:lstStyle/>
          <a:p>
            <a:pPr algn="l" marL="342900" indent="-342900">
              <a:lnSpc>
                <a:spcPts val="2250"/>
              </a:lnSpc>
              <a:buSzPct val="100000"/>
              <a:buChar char="•"/>
            </a:pPr>
            <a:r>
              <a:rPr lang="en-US" sz="1500" dirty="0">
                <a:solidFill>
                  <a:srgbClr val="4C5A66"/>
                </a:solidFill>
                <a:latin typeface="IBM Plex Sans" pitchFamily="34" charset="0"/>
                <a:ea typeface="IBM Plex Sans" pitchFamily="34" charset="-122"/>
                <a:cs typeface="IBM Plex Sans" pitchFamily="34" charset="-120"/>
              </a:rPr>
              <a:t>Collect thousands of defect images</a:t>
            </a:r>
            <a:endParaRPr lang="en-US" sz="1500" dirty="0"/>
          </a:p>
          <a:p>
            <a:pPr algn="l" marL="342900" indent="-342900">
              <a:lnSpc>
                <a:spcPts val="2250"/>
              </a:lnSpc>
              <a:buSzPct val="100000"/>
              <a:buChar char="•"/>
            </a:pPr>
            <a:r>
              <a:rPr lang="en-US" sz="1500" dirty="0">
                <a:solidFill>
                  <a:srgbClr val="4C5A66"/>
                </a:solidFill>
                <a:latin typeface="IBM Plex Sans" pitchFamily="34" charset="0"/>
                <a:ea typeface="IBM Plex Sans" pitchFamily="34" charset="-122"/>
                <a:cs typeface="IBM Plex Sans" pitchFamily="34" charset="-120"/>
              </a:rPr>
              <a:t>Label them by hand</a:t>
            </a:r>
            <a:endParaRPr lang="en-US" sz="1500" dirty="0"/>
          </a:p>
          <a:p>
            <a:pPr algn="l" marL="342900" indent="-342900">
              <a:lnSpc>
                <a:spcPts val="2250"/>
              </a:lnSpc>
              <a:buSzPct val="100000"/>
              <a:buChar char="•"/>
            </a:pPr>
            <a:r>
              <a:rPr lang="en-US" sz="1500" dirty="0">
                <a:solidFill>
                  <a:srgbClr val="4C5A66"/>
                </a:solidFill>
                <a:latin typeface="IBM Plex Sans" pitchFamily="34" charset="0"/>
                <a:ea typeface="IBM Plex Sans" pitchFamily="34" charset="-122"/>
                <a:cs typeface="IBM Plex Sans" pitchFamily="34" charset="-120"/>
              </a:rPr>
              <a:t>Tune a model for weeks</a:t>
            </a:r>
            <a:endParaRPr lang="en-US" sz="1500" dirty="0"/>
          </a:p>
          <a:p>
            <a:pPr algn="l" marL="342900" indent="-342900">
              <a:lnSpc>
                <a:spcPts val="2250"/>
              </a:lnSpc>
              <a:buSzPct val="100000"/>
              <a:buChar char="•"/>
            </a:pPr>
            <a:r>
              <a:rPr lang="en-US" sz="1500" dirty="0">
                <a:solidFill>
                  <a:srgbClr val="4C5A66"/>
                </a:solidFill>
                <a:latin typeface="IBM Plex Sans" pitchFamily="34" charset="0"/>
                <a:ea typeface="IBM Plex Sans" pitchFamily="34" charset="-122"/>
                <a:cs typeface="IBM Plex Sans" pitchFamily="34" charset="-120"/>
              </a:rPr>
              <a:t>Product changes — start over</a:t>
            </a:r>
            <a:endParaRPr lang="en-US" sz="1500" dirty="0"/>
          </a:p>
        </p:txBody>
      </p:sp>
      <p:sp>
        <p:nvSpPr>
          <p:cNvPr id="7" name="Shape 5"/>
          <p:cNvSpPr/>
          <p:nvPr/>
        </p:nvSpPr>
        <p:spPr>
          <a:xfrm>
            <a:off x="6197567" y="2425176"/>
            <a:ext cx="5181650" cy="1871837"/>
          </a:xfrm>
          <a:prstGeom prst="roundRect">
            <a:avLst>
              <a:gd name="adj" fmla="val 4071"/>
            </a:avLst>
          </a:prstGeom>
          <a:solidFill>
            <a:srgbClr val="101820"/>
          </a:solidFill>
          <a:ln/>
        </p:spPr>
      </p:sp>
      <p:sp>
        <p:nvSpPr>
          <p:cNvPr id="8" name="Text 6"/>
          <p:cNvSpPr/>
          <p:nvPr/>
        </p:nvSpPr>
        <p:spPr>
          <a:xfrm>
            <a:off x="6451567" y="2679176"/>
            <a:ext cx="4813859"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0A03C"/>
                </a:solidFill>
                <a:latin typeface="IBM Plex Sans" pitchFamily="34" charset="0"/>
                <a:ea typeface="IBM Plex Sans" pitchFamily="34" charset="-122"/>
                <a:cs typeface="IBM Plex Sans" pitchFamily="34" charset="-120"/>
              </a:rPr>
              <a:t>WITH A PRE-TRAINED MODEL</a:t>
            </a:r>
            <a:endParaRPr lang="en-US" sz="1300" dirty="0"/>
          </a:p>
        </p:txBody>
      </p:sp>
      <p:sp>
        <p:nvSpPr>
          <p:cNvPr id="9" name="Text 7"/>
          <p:cNvSpPr/>
          <p:nvPr/>
        </p:nvSpPr>
        <p:spPr>
          <a:xfrm>
            <a:off x="6451567" y="3014213"/>
            <a:ext cx="4813859" cy="1054200"/>
          </a:xfrm>
          <a:prstGeom prst="rect">
            <a:avLst/>
          </a:prstGeom>
          <a:noFill/>
          <a:ln/>
        </p:spPr>
        <p:txBody>
          <a:bodyPr wrap="square" lIns="0" tIns="0" rIns="0" bIns="0" rtlCol="0" anchor="t">
            <a:normAutofit/>
          </a:bodyPr>
          <a:lstStyle/>
          <a:p>
            <a:pPr algn="l" marL="342900" indent="-342900">
              <a:lnSpc>
                <a:spcPts val="2250"/>
              </a:lnSpc>
              <a:buSzPct val="100000"/>
              <a:buChar char="•"/>
            </a:pPr>
            <a:r>
              <a:rPr lang="en-US" sz="1500" dirty="0">
                <a:solidFill>
                  <a:srgbClr val="A8BAC6"/>
                </a:solidFill>
                <a:latin typeface="IBM Plex Sans" pitchFamily="34" charset="0"/>
                <a:ea typeface="IBM Plex Sans" pitchFamily="34" charset="-122"/>
                <a:cs typeface="IBM Plex Sans" pitchFamily="34" charset="-120"/>
              </a:rPr>
              <a:t>Upload 50–100 labelled images</a:t>
            </a:r>
            <a:endParaRPr lang="en-US" sz="1500" dirty="0"/>
          </a:p>
          <a:p>
            <a:pPr algn="l" marL="342900" indent="-342900">
              <a:lnSpc>
                <a:spcPts val="2250"/>
              </a:lnSpc>
              <a:buSzPct val="100000"/>
              <a:buChar char="•"/>
            </a:pPr>
            <a:r>
              <a:rPr lang="en-US" sz="1500" dirty="0">
                <a:solidFill>
                  <a:srgbClr val="A8BAC6"/>
                </a:solidFill>
                <a:latin typeface="IBM Plex Sans" pitchFamily="34" charset="0"/>
                <a:ea typeface="IBM Plex Sans" pitchFamily="34" charset="-122"/>
                <a:cs typeface="IBM Plex Sans" pitchFamily="34" charset="-120"/>
              </a:rPr>
              <a:t>An adapter trains itself in hours</a:t>
            </a:r>
            <a:endParaRPr lang="en-US" sz="1500" dirty="0"/>
          </a:p>
          <a:p>
            <a:pPr algn="l" marL="342900" indent="-342900">
              <a:lnSpc>
                <a:spcPts val="2250"/>
              </a:lnSpc>
              <a:buSzPct val="100000"/>
              <a:buChar char="•"/>
            </a:pPr>
            <a:r>
              <a:rPr lang="en-US" sz="1500" dirty="0">
                <a:solidFill>
                  <a:srgbClr val="A8BAC6"/>
                </a:solidFill>
                <a:latin typeface="IBM Plex Sans" pitchFamily="34" charset="0"/>
                <a:ea typeface="IBM Plex Sans" pitchFamily="34" charset="-122"/>
                <a:cs typeface="IBM Plex Sans" pitchFamily="34" charset="-120"/>
              </a:rPr>
              <a:t>Live through an API the same day</a:t>
            </a:r>
            <a:endParaRPr lang="en-US" sz="1500" dirty="0"/>
          </a:p>
          <a:p>
            <a:pPr algn="l" marL="342900" indent="-342900">
              <a:lnSpc>
                <a:spcPts val="2250"/>
              </a:lnSpc>
              <a:buSzPct val="100000"/>
              <a:buChar char="•"/>
            </a:pPr>
            <a:r>
              <a:rPr lang="en-US" sz="1500" dirty="0">
                <a:solidFill>
                  <a:srgbClr val="A8BAC6"/>
                </a:solidFill>
                <a:latin typeface="IBM Plex Sans" pitchFamily="34" charset="0"/>
                <a:ea typeface="IBM Plex Sans" pitchFamily="34" charset="-122"/>
                <a:cs typeface="IBM Plex Sans" pitchFamily="34" charset="-120"/>
              </a:rPr>
              <a:t>Next product — another afternoon</a:t>
            </a:r>
            <a:endParaRPr lang="en-US" sz="1500" dirty="0"/>
          </a:p>
        </p:txBody>
      </p:sp>
      <p:sp>
        <p:nvSpPr>
          <p:cNvPr id="10" name="Text 8"/>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783" y="812783"/>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F3F5F6"/>
                </a:solidFill>
                <a:latin typeface="Barlow Condensed" pitchFamily="34" charset="0"/>
                <a:ea typeface="Barlow Condensed" pitchFamily="34" charset="-122"/>
                <a:cs typeface="Barlow Condensed" pitchFamily="34" charset="-120"/>
              </a:rPr>
              <a:t>The size of the gap</a:t>
            </a:r>
            <a:endParaRPr lang="en-US" sz="4400" dirty="0"/>
          </a:p>
        </p:txBody>
      </p:sp>
      <p:sp>
        <p:nvSpPr>
          <p:cNvPr id="3" name="Shape 1"/>
          <p:cNvSpPr/>
          <p:nvPr/>
        </p:nvSpPr>
        <p:spPr>
          <a:xfrm>
            <a:off x="812783" y="1610190"/>
            <a:ext cx="2527283" cy="1629473"/>
          </a:xfrm>
          <a:prstGeom prst="roundRect">
            <a:avLst>
              <a:gd name="adj" fmla="val 3118"/>
            </a:avLst>
          </a:prstGeom>
          <a:solidFill>
            <a:srgbClr val="18222C"/>
          </a:solidFill>
          <a:ln/>
        </p:spPr>
      </p:sp>
      <p:sp>
        <p:nvSpPr>
          <p:cNvPr id="4" name="Shape 2"/>
          <p:cNvSpPr/>
          <p:nvPr/>
        </p:nvSpPr>
        <p:spPr>
          <a:xfrm>
            <a:off x="812783" y="1622890"/>
            <a:ext cx="2527283" cy="0"/>
          </a:xfrm>
          <a:prstGeom prst="line">
            <a:avLst/>
          </a:prstGeom>
          <a:noFill/>
          <a:ln w="25400">
            <a:solidFill>
              <a:srgbClr val="2E82BE"/>
            </a:solidFill>
            <a:prstDash val="solid"/>
          </a:ln>
        </p:spPr>
      </p:sp>
      <p:sp>
        <p:nvSpPr>
          <p:cNvPr id="5" name="Text 3"/>
          <p:cNvSpPr/>
          <p:nvPr/>
        </p:nvSpPr>
        <p:spPr>
          <a:xfrm>
            <a:off x="1041350" y="1862694"/>
            <a:ext cx="2132254" cy="436862"/>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F5F6"/>
                </a:solidFill>
                <a:latin typeface="Barlow Condensed" pitchFamily="34" charset="0"/>
                <a:ea typeface="Barlow Condensed" pitchFamily="34" charset="-122"/>
                <a:cs typeface="Barlow Condensed" pitchFamily="34" charset="-120"/>
              </a:rPr>
              <a:t>€2–4m</a:t>
            </a:r>
            <a:endParaRPr lang="en-US" sz="3600" dirty="0"/>
          </a:p>
        </p:txBody>
      </p:sp>
      <p:sp>
        <p:nvSpPr>
          <p:cNvPr id="6" name="Text 4"/>
          <p:cNvSpPr/>
          <p:nvPr/>
        </p:nvSpPr>
        <p:spPr>
          <a:xfrm>
            <a:off x="1041350" y="2363046"/>
            <a:ext cx="2132254" cy="673449"/>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A8BAC6"/>
                </a:solidFill>
                <a:latin typeface="IBM Plex Sans" pitchFamily="34" charset="0"/>
                <a:ea typeface="IBM Plex Sans" pitchFamily="34" charset="-122"/>
                <a:cs typeface="IBM Plex Sans" pitchFamily="34" charset="-120"/>
              </a:rPr>
              <a:t>a year on vision setup alone, for one large multi-product manufacturer</a:t>
            </a:r>
            <a:endParaRPr lang="en-US" sz="1350" dirty="0"/>
          </a:p>
        </p:txBody>
      </p:sp>
      <p:sp>
        <p:nvSpPr>
          <p:cNvPr id="7" name="Shape 5"/>
          <p:cNvSpPr/>
          <p:nvPr/>
        </p:nvSpPr>
        <p:spPr>
          <a:xfrm>
            <a:off x="3492459" y="1610190"/>
            <a:ext cx="2527325" cy="1629473"/>
          </a:xfrm>
          <a:prstGeom prst="roundRect">
            <a:avLst>
              <a:gd name="adj" fmla="val 3118"/>
            </a:avLst>
          </a:prstGeom>
          <a:solidFill>
            <a:srgbClr val="18222C"/>
          </a:solidFill>
          <a:ln/>
        </p:spPr>
      </p:sp>
      <p:sp>
        <p:nvSpPr>
          <p:cNvPr id="8" name="Shape 6"/>
          <p:cNvSpPr/>
          <p:nvPr/>
        </p:nvSpPr>
        <p:spPr>
          <a:xfrm>
            <a:off x="3492459" y="1622890"/>
            <a:ext cx="2527325" cy="0"/>
          </a:xfrm>
          <a:prstGeom prst="line">
            <a:avLst/>
          </a:prstGeom>
          <a:noFill/>
          <a:ln w="25400">
            <a:solidFill>
              <a:srgbClr val="2E82BE"/>
            </a:solidFill>
            <a:prstDash val="solid"/>
          </a:ln>
        </p:spPr>
      </p:sp>
      <p:sp>
        <p:nvSpPr>
          <p:cNvPr id="9" name="Text 7"/>
          <p:cNvSpPr/>
          <p:nvPr/>
        </p:nvSpPr>
        <p:spPr>
          <a:xfrm>
            <a:off x="3721025" y="1862694"/>
            <a:ext cx="2132297" cy="436862"/>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F5F6"/>
                </a:solidFill>
                <a:latin typeface="Barlow Condensed" pitchFamily="34" charset="0"/>
                <a:ea typeface="Barlow Condensed" pitchFamily="34" charset="-122"/>
                <a:cs typeface="Barlow Condensed" pitchFamily="34" charset="-120"/>
              </a:rPr>
              <a:t>10–20%</a:t>
            </a:r>
            <a:endParaRPr lang="en-US" sz="3600" dirty="0"/>
          </a:p>
        </p:txBody>
      </p:sp>
      <p:sp>
        <p:nvSpPr>
          <p:cNvPr id="10" name="Text 8"/>
          <p:cNvSpPr/>
          <p:nvPr/>
        </p:nvSpPr>
        <p:spPr>
          <a:xfrm>
            <a:off x="3721025" y="2363046"/>
            <a:ext cx="2132297" cy="673449"/>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A8BAC6"/>
                </a:solidFill>
                <a:latin typeface="IBM Plex Sans" pitchFamily="34" charset="0"/>
                <a:ea typeface="IBM Plex Sans" pitchFamily="34" charset="-122"/>
                <a:cs typeface="IBM Plex Sans" pitchFamily="34" charset="-120"/>
              </a:rPr>
              <a:t>of revenue lost to poor quality — scrap, rework, warranty. The real budget</a:t>
            </a:r>
            <a:endParaRPr lang="en-US" sz="1350" dirty="0"/>
          </a:p>
        </p:txBody>
      </p:sp>
      <p:sp>
        <p:nvSpPr>
          <p:cNvPr id="11" name="Shape 9"/>
          <p:cNvSpPr/>
          <p:nvPr/>
        </p:nvSpPr>
        <p:spPr>
          <a:xfrm>
            <a:off x="6172175" y="1610190"/>
            <a:ext cx="2527325" cy="1629473"/>
          </a:xfrm>
          <a:prstGeom prst="roundRect">
            <a:avLst>
              <a:gd name="adj" fmla="val 3118"/>
            </a:avLst>
          </a:prstGeom>
          <a:solidFill>
            <a:srgbClr val="18222C"/>
          </a:solidFill>
          <a:ln/>
        </p:spPr>
      </p:sp>
      <p:sp>
        <p:nvSpPr>
          <p:cNvPr id="12" name="Shape 10"/>
          <p:cNvSpPr/>
          <p:nvPr/>
        </p:nvSpPr>
        <p:spPr>
          <a:xfrm>
            <a:off x="6172175" y="1622890"/>
            <a:ext cx="2527325" cy="0"/>
          </a:xfrm>
          <a:prstGeom prst="line">
            <a:avLst/>
          </a:prstGeom>
          <a:noFill/>
          <a:ln w="25400">
            <a:solidFill>
              <a:srgbClr val="2E82BE"/>
            </a:solidFill>
            <a:prstDash val="solid"/>
          </a:ln>
        </p:spPr>
      </p:sp>
      <p:sp>
        <p:nvSpPr>
          <p:cNvPr id="13" name="Text 11"/>
          <p:cNvSpPr/>
          <p:nvPr/>
        </p:nvSpPr>
        <p:spPr>
          <a:xfrm>
            <a:off x="6400741" y="1862694"/>
            <a:ext cx="2132297" cy="436862"/>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F5F6"/>
                </a:solidFill>
                <a:latin typeface="Barlow Condensed" pitchFamily="34" charset="0"/>
                <a:ea typeface="Barlow Condensed" pitchFamily="34" charset="-122"/>
                <a:cs typeface="Barlow Condensed" pitchFamily="34" charset="-120"/>
              </a:rPr>
              <a:t>$23–42bn</a:t>
            </a:r>
            <a:endParaRPr lang="en-US" sz="3600" dirty="0"/>
          </a:p>
        </p:txBody>
      </p:sp>
      <p:sp>
        <p:nvSpPr>
          <p:cNvPr id="14" name="Text 12"/>
          <p:cNvSpPr/>
          <p:nvPr/>
        </p:nvSpPr>
        <p:spPr>
          <a:xfrm>
            <a:off x="6400741" y="2363046"/>
            <a:ext cx="2132297" cy="673449"/>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A8BAC6"/>
                </a:solidFill>
                <a:latin typeface="IBM Plex Sans" pitchFamily="34" charset="0"/>
                <a:ea typeface="IBM Plex Sans" pitchFamily="34" charset="-122"/>
                <a:cs typeface="IBM Plex Sans" pitchFamily="34" charset="-120"/>
              </a:rPr>
              <a:t>machine vision market by 2030, with AI inspection the fastest-growing slice</a:t>
            </a:r>
            <a:endParaRPr lang="en-US" sz="1350" dirty="0"/>
          </a:p>
        </p:txBody>
      </p:sp>
      <p:sp>
        <p:nvSpPr>
          <p:cNvPr id="15" name="Shape 13"/>
          <p:cNvSpPr/>
          <p:nvPr/>
        </p:nvSpPr>
        <p:spPr>
          <a:xfrm>
            <a:off x="8851891" y="1610190"/>
            <a:ext cx="2527325" cy="1629473"/>
          </a:xfrm>
          <a:prstGeom prst="roundRect">
            <a:avLst>
              <a:gd name="adj" fmla="val 3118"/>
            </a:avLst>
          </a:prstGeom>
          <a:solidFill>
            <a:srgbClr val="E0A03C"/>
          </a:solidFill>
          <a:ln/>
        </p:spPr>
      </p:sp>
      <p:sp>
        <p:nvSpPr>
          <p:cNvPr id="16" name="Shape 14"/>
          <p:cNvSpPr/>
          <p:nvPr/>
        </p:nvSpPr>
        <p:spPr>
          <a:xfrm>
            <a:off x="8851891" y="1622890"/>
            <a:ext cx="2527325" cy="0"/>
          </a:xfrm>
          <a:prstGeom prst="line">
            <a:avLst/>
          </a:prstGeom>
          <a:noFill/>
          <a:ln w="25400">
            <a:solidFill>
              <a:srgbClr val="E0A03C"/>
            </a:solidFill>
            <a:prstDash val="solid"/>
          </a:ln>
        </p:spPr>
      </p:sp>
      <p:sp>
        <p:nvSpPr>
          <p:cNvPr id="17" name="Text 15"/>
          <p:cNvSpPr/>
          <p:nvPr/>
        </p:nvSpPr>
        <p:spPr>
          <a:xfrm>
            <a:off x="9080458" y="1862694"/>
            <a:ext cx="2132297" cy="436862"/>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01820"/>
                </a:solidFill>
                <a:latin typeface="Barlow Condensed" pitchFamily="34" charset="0"/>
                <a:ea typeface="Barlow Condensed" pitchFamily="34" charset="-122"/>
                <a:cs typeface="Barlow Condensed" pitchFamily="34" charset="-120"/>
              </a:rPr>
              <a:t>&lt;100</a:t>
            </a:r>
            <a:endParaRPr lang="en-US" sz="3600" dirty="0"/>
          </a:p>
        </p:txBody>
      </p:sp>
      <p:sp>
        <p:nvSpPr>
          <p:cNvPr id="18" name="Text 16"/>
          <p:cNvSpPr/>
          <p:nvPr/>
        </p:nvSpPr>
        <p:spPr>
          <a:xfrm>
            <a:off x="9080458" y="2363046"/>
            <a:ext cx="2132297" cy="673449"/>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3A2A0C"/>
                </a:solidFill>
                <a:latin typeface="IBM Plex Sans" pitchFamily="34" charset="0"/>
                <a:ea typeface="IBM Plex Sans" pitchFamily="34" charset="-122"/>
                <a:cs typeface="IBM Plex Sans" pitchFamily="34" charset="-120"/>
              </a:rPr>
              <a:t>images to teach a new defect — the one number this whole business rests on</a:t>
            </a:r>
            <a:endParaRPr lang="en-US" sz="1350" dirty="0"/>
          </a:p>
        </p:txBody>
      </p:sp>
      <p:sp>
        <p:nvSpPr>
          <p:cNvPr id="19" name="Text 17"/>
          <p:cNvSpPr/>
          <p:nvPr/>
        </p:nvSpPr>
        <p:spPr>
          <a:xfrm>
            <a:off x="812783" y="3519055"/>
            <a:ext cx="10203180" cy="746258"/>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A8BAC6"/>
                </a:solidFill>
                <a:latin typeface="IBM Plex Sans" pitchFamily="34" charset="0"/>
                <a:ea typeface="IBM Plex Sans" pitchFamily="34" charset="-122"/>
                <a:cs typeface="IBM Plex Sans" pitchFamily="34" charset="-120"/>
              </a:rPr>
              <a:t>Market figures range by source: machine vision sits somewhere between $16bn and $23bn today depending on who you read. Claims like “30% more accurate than rule-based systems” are industry-reported, not measured by us — the last number on this slide is the one we intend to prove ourselves.</a:t>
            </a:r>
            <a:endParaRPr lang="en-US" sz="1450" dirty="0"/>
          </a:p>
        </p:txBody>
      </p:sp>
      <p:sp>
        <p:nvSpPr>
          <p:cNvPr id="20" name="Text 18"/>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5F6"/>
        </a:solidFill>
      </p:bgPr>
    </p:bg>
    <p:spTree>
      <p:nvGrpSpPr>
        <p:cNvPr id="1" name=""/>
        <p:cNvGrpSpPr/>
        <p:nvPr/>
      </p:nvGrpSpPr>
      <p:grpSpPr>
        <a:xfrm>
          <a:off x="0" y="0"/>
          <a:ext cx="0" cy="0"/>
          <a:chOff x="0" y="0"/>
          <a:chExt cx="0" cy="0"/>
        </a:xfrm>
      </p:grpSpPr>
      <p:sp>
        <p:nvSpPr>
          <p:cNvPr id="2" name="Text 0"/>
          <p:cNvSpPr/>
          <p:nvPr/>
        </p:nvSpPr>
        <p:spPr>
          <a:xfrm>
            <a:off x="812783" y="812781"/>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101820"/>
                </a:solidFill>
                <a:latin typeface="Barlow Condensed" pitchFamily="34" charset="0"/>
                <a:ea typeface="Barlow Condensed" pitchFamily="34" charset="-122"/>
                <a:cs typeface="Barlow Condensed" pitchFamily="34" charset="-120"/>
              </a:rPr>
              <a:t>How it works</a:t>
            </a:r>
            <a:endParaRPr lang="en-US" sz="4400" dirty="0"/>
          </a:p>
        </p:txBody>
      </p:sp>
      <p:sp>
        <p:nvSpPr>
          <p:cNvPr id="3" name="Shape 1"/>
          <p:cNvSpPr/>
          <p:nvPr/>
        </p:nvSpPr>
        <p:spPr>
          <a:xfrm>
            <a:off x="812783" y="1610190"/>
            <a:ext cx="2986578" cy="1990359"/>
          </a:xfrm>
          <a:prstGeom prst="roundRect">
            <a:avLst>
              <a:gd name="adj" fmla="val 3828"/>
            </a:avLst>
          </a:prstGeom>
          <a:solidFill>
            <a:srgbClr val="101820"/>
          </a:solidFill>
          <a:ln/>
        </p:spPr>
      </p:sp>
      <p:sp>
        <p:nvSpPr>
          <p:cNvPr id="4" name="Text 2"/>
          <p:cNvSpPr/>
          <p:nvPr/>
        </p:nvSpPr>
        <p:spPr>
          <a:xfrm>
            <a:off x="1041350" y="1838756"/>
            <a:ext cx="2605328" cy="225417"/>
          </a:xfrm>
          <a:prstGeom prst="rect">
            <a:avLst/>
          </a:prstGeom>
          <a:noFill/>
          <a:ln/>
        </p:spPr>
        <p:txBody>
          <a:bodyPr wrap="square" lIns="0" tIns="0" rIns="0" bIns="0" rtlCol="0" anchor="t">
            <a:normAutofit/>
          </a:bodyPr>
          <a:lstStyle/>
          <a:p>
            <a:pPr algn="l" indent="0" marL="0">
              <a:lnSpc>
                <a:spcPts val="1750"/>
              </a:lnSpc>
              <a:buNone/>
            </a:pPr>
            <a:r>
              <a:rPr lang="en-US" sz="1250" b="1" spc="100" kern="0" dirty="0">
                <a:solidFill>
                  <a:srgbClr val="E0A03C"/>
                </a:solidFill>
                <a:latin typeface="IBM Plex Sans" pitchFamily="34" charset="0"/>
                <a:ea typeface="IBM Plex Sans" pitchFamily="34" charset="-122"/>
                <a:cs typeface="IBM Plex Sans" pitchFamily="34" charset="-120"/>
              </a:rPr>
              <a:t>TRAINED ONCE · FROZEN</a:t>
            </a:r>
            <a:endParaRPr lang="en-US" sz="1250" dirty="0"/>
          </a:p>
        </p:txBody>
      </p:sp>
      <p:sp>
        <p:nvSpPr>
          <p:cNvPr id="5" name="Text 3"/>
          <p:cNvSpPr/>
          <p:nvPr/>
        </p:nvSpPr>
        <p:spPr>
          <a:xfrm>
            <a:off x="1041350" y="2127665"/>
            <a:ext cx="2605328" cy="28600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F3F5F6"/>
                </a:solidFill>
                <a:latin typeface="IBM Plex Sans" pitchFamily="34" charset="0"/>
                <a:ea typeface="IBM Plex Sans" pitchFamily="34" charset="-122"/>
                <a:cs typeface="IBM Plex Sans" pitchFamily="34" charset="-120"/>
              </a:rPr>
              <a:t>Foundation model</a:t>
            </a:r>
            <a:endParaRPr lang="en-US" sz="1900" dirty="0"/>
          </a:p>
        </p:txBody>
      </p:sp>
      <p:sp>
        <p:nvSpPr>
          <p:cNvPr id="6" name="Text 4"/>
          <p:cNvSpPr/>
          <p:nvPr/>
        </p:nvSpPr>
        <p:spPr>
          <a:xfrm>
            <a:off x="1041350" y="2477164"/>
            <a:ext cx="2605328" cy="920218"/>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A8BAC6"/>
                </a:solidFill>
                <a:latin typeface="IBM Plex Sans" pitchFamily="34" charset="0"/>
                <a:ea typeface="IBM Plex Sans" pitchFamily="34" charset="-122"/>
                <a:cs typeface="IBM Plex Sans" pitchFamily="34" charset="-120"/>
              </a:rPr>
              <a:t>Learns what defects look like in general, from cross-plant defect data. Expensive, slow, and done exactly once.</a:t>
            </a:r>
            <a:endParaRPr lang="en-US" sz="1350" dirty="0"/>
          </a:p>
        </p:txBody>
      </p:sp>
      <p:pic>
        <p:nvPicPr>
          <p:cNvPr id="7" name="Image 0" descr="arrow-right">    </p:cNvPr>
          <p:cNvPicPr>
            <a:picLocks noChangeAspect="1"/>
          </p:cNvPicPr>
          <p:nvPr/>
        </p:nvPicPr>
        <p:blipFill>
          <a:blip r:embed="rId1"/>
          <a:srcRect l="0" r="0" t="0" b="0"/>
          <a:stretch/>
        </p:blipFill>
        <p:spPr>
          <a:xfrm>
            <a:off x="3951753" y="2484729"/>
            <a:ext cx="482567" cy="241283"/>
          </a:xfrm>
          <a:prstGeom prst="rect">
            <a:avLst/>
          </a:prstGeom>
        </p:spPr>
      </p:pic>
      <p:sp>
        <p:nvSpPr>
          <p:cNvPr id="8" name="Shape 5"/>
          <p:cNvSpPr/>
          <p:nvPr/>
        </p:nvSpPr>
        <p:spPr>
          <a:xfrm>
            <a:off x="4593061" y="1617746"/>
            <a:ext cx="2995197" cy="1975249"/>
          </a:xfrm>
          <a:prstGeom prst="roundRect">
            <a:avLst>
              <a:gd name="adj" fmla="val 3536"/>
            </a:avLst>
          </a:prstGeom>
          <a:solidFill>
            <a:srgbClr val="FFFFFF"/>
          </a:solidFill>
          <a:ln w="12700">
            <a:solidFill>
              <a:srgbClr val="15618F"/>
            </a:solidFill>
            <a:prstDash val="solid"/>
          </a:ln>
        </p:spPr>
      </p:sp>
      <p:sp>
        <p:nvSpPr>
          <p:cNvPr id="9" name="Text 6"/>
          <p:cNvSpPr/>
          <p:nvPr/>
        </p:nvSpPr>
        <p:spPr>
          <a:xfrm>
            <a:off x="4825917" y="1850600"/>
            <a:ext cx="2605370" cy="425433"/>
          </a:xfrm>
          <a:prstGeom prst="rect">
            <a:avLst/>
          </a:prstGeom>
          <a:noFill/>
          <a:ln/>
        </p:spPr>
        <p:txBody>
          <a:bodyPr wrap="square" lIns="0" tIns="0" rIns="0" bIns="0" rtlCol="0" anchor="t">
            <a:normAutofit/>
          </a:bodyPr>
          <a:lstStyle/>
          <a:p>
            <a:pPr algn="l" indent="0" marL="0">
              <a:lnSpc>
                <a:spcPts val="1750"/>
              </a:lnSpc>
              <a:buNone/>
            </a:pPr>
            <a:r>
              <a:rPr lang="en-US" sz="1250" b="1" spc="100" kern="0" dirty="0">
                <a:solidFill>
                  <a:srgbClr val="9A6410"/>
                </a:solidFill>
                <a:latin typeface="IBM Plex Sans" pitchFamily="34" charset="0"/>
                <a:ea typeface="IBM Plex Sans" pitchFamily="34" charset="-122"/>
                <a:cs typeface="IBM Plex Sans" pitchFamily="34" charset="-120"/>
              </a:rPr>
              <a:t>TRAINED PER CUSTOMER · HOURS</a:t>
            </a:r>
            <a:endParaRPr lang="en-US" sz="1250" dirty="0"/>
          </a:p>
        </p:txBody>
      </p:sp>
      <p:sp>
        <p:nvSpPr>
          <p:cNvPr id="10" name="Text 7"/>
          <p:cNvSpPr/>
          <p:nvPr/>
        </p:nvSpPr>
        <p:spPr>
          <a:xfrm>
            <a:off x="4825917" y="2339525"/>
            <a:ext cx="2605370" cy="28600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0"/>
                </a:solidFill>
                <a:latin typeface="IBM Plex Sans" pitchFamily="34" charset="0"/>
                <a:ea typeface="IBM Plex Sans" pitchFamily="34" charset="-122"/>
                <a:cs typeface="IBM Plex Sans" pitchFamily="34" charset="-120"/>
              </a:rPr>
              <a:t>Customer adapter</a:t>
            </a:r>
            <a:endParaRPr lang="en-US" sz="1900" dirty="0"/>
          </a:p>
        </p:txBody>
      </p:sp>
      <p:sp>
        <p:nvSpPr>
          <p:cNvPr id="11" name="Text 8"/>
          <p:cNvSpPr/>
          <p:nvPr/>
        </p:nvSpPr>
        <p:spPr>
          <a:xfrm>
            <a:off x="4825917" y="2689023"/>
            <a:ext cx="2605370" cy="696514"/>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C5A66"/>
                </a:solidFill>
                <a:latin typeface="IBM Plex Sans" pitchFamily="34" charset="0"/>
                <a:ea typeface="IBM Plex Sans" pitchFamily="34" charset="-122"/>
                <a:cs typeface="IBM Plex Sans" pitchFamily="34" charset="-120"/>
              </a:rPr>
              <a:t>A small layer on top, trained only on their labelled images. This is the only part that changes per product.</a:t>
            </a:r>
            <a:endParaRPr lang="en-US" sz="1350" dirty="0"/>
          </a:p>
        </p:txBody>
      </p:sp>
      <p:pic>
        <p:nvPicPr>
          <p:cNvPr id="12" name="Image 1" descr="arrow-right">    </p:cNvPr>
          <p:cNvPicPr>
            <a:picLocks noChangeAspect="1"/>
          </p:cNvPicPr>
          <p:nvPr/>
        </p:nvPicPr>
        <p:blipFill>
          <a:blip r:embed="rId2"/>
          <a:srcRect l="0" r="0" t="0" b="0"/>
          <a:stretch/>
        </p:blipFill>
        <p:spPr>
          <a:xfrm>
            <a:off x="7747000" y="2484729"/>
            <a:ext cx="482567" cy="241283"/>
          </a:xfrm>
          <a:prstGeom prst="rect">
            <a:avLst/>
          </a:prstGeom>
        </p:spPr>
      </p:pic>
      <p:sp>
        <p:nvSpPr>
          <p:cNvPr id="13" name="Shape 9"/>
          <p:cNvSpPr/>
          <p:nvPr/>
        </p:nvSpPr>
        <p:spPr>
          <a:xfrm>
            <a:off x="8385133" y="1719876"/>
            <a:ext cx="2990908" cy="1770943"/>
          </a:xfrm>
          <a:prstGeom prst="roundRect">
            <a:avLst>
              <a:gd name="adj" fmla="val 4124"/>
            </a:avLst>
          </a:prstGeom>
          <a:solidFill>
            <a:srgbClr val="FFFFFF"/>
          </a:solidFill>
          <a:ln w="6350">
            <a:solidFill>
              <a:srgbClr val="D9E0E4"/>
            </a:solidFill>
            <a:prstDash val="solid"/>
          </a:ln>
        </p:spPr>
      </p:sp>
      <p:sp>
        <p:nvSpPr>
          <p:cNvPr id="14" name="Text 10"/>
          <p:cNvSpPr/>
          <p:nvPr/>
        </p:nvSpPr>
        <p:spPr>
          <a:xfrm>
            <a:off x="8615845" y="1950588"/>
            <a:ext cx="2605370" cy="225417"/>
          </a:xfrm>
          <a:prstGeom prst="rect">
            <a:avLst/>
          </a:prstGeom>
          <a:noFill/>
          <a:ln/>
        </p:spPr>
        <p:txBody>
          <a:bodyPr wrap="square" lIns="0" tIns="0" rIns="0" bIns="0" rtlCol="0" anchor="t">
            <a:normAutofit/>
          </a:bodyPr>
          <a:lstStyle/>
          <a:p>
            <a:pPr algn="l" indent="0" marL="0">
              <a:lnSpc>
                <a:spcPts val="1750"/>
              </a:lnSpc>
              <a:buNone/>
            </a:pPr>
            <a:r>
              <a:rPr lang="en-US" sz="1250" b="1" spc="100" kern="0" dirty="0">
                <a:solidFill>
                  <a:srgbClr val="7C8B96"/>
                </a:solidFill>
                <a:latin typeface="IBM Plex Sans" pitchFamily="34" charset="0"/>
                <a:ea typeface="IBM Plex Sans" pitchFamily="34" charset="-122"/>
                <a:cs typeface="IBM Plex Sans" pitchFamily="34" charset="-120"/>
              </a:rPr>
              <a:t>EVERY PART · MILLISECONDS</a:t>
            </a:r>
            <a:endParaRPr lang="en-US" sz="1250" dirty="0"/>
          </a:p>
        </p:txBody>
      </p:sp>
      <p:sp>
        <p:nvSpPr>
          <p:cNvPr id="15" name="Text 11"/>
          <p:cNvSpPr/>
          <p:nvPr/>
        </p:nvSpPr>
        <p:spPr>
          <a:xfrm>
            <a:off x="8615845" y="2239497"/>
            <a:ext cx="2605370" cy="28600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0"/>
                </a:solidFill>
                <a:latin typeface="IBM Plex Sans" pitchFamily="34" charset="0"/>
                <a:ea typeface="IBM Plex Sans" pitchFamily="34" charset="-122"/>
                <a:cs typeface="IBM Plex Sans" pitchFamily="34" charset="-120"/>
              </a:rPr>
              <a:t>Verdict on the line</a:t>
            </a:r>
            <a:endParaRPr lang="en-US" sz="1900" dirty="0"/>
          </a:p>
        </p:txBody>
      </p:sp>
      <p:sp>
        <p:nvSpPr>
          <p:cNvPr id="16" name="Text 12"/>
          <p:cNvSpPr/>
          <p:nvPr/>
        </p:nvSpPr>
        <p:spPr>
          <a:xfrm>
            <a:off x="8615845" y="2588995"/>
            <a:ext cx="2605370" cy="696514"/>
          </a:xfrm>
          <a:prstGeom prst="rect">
            <a:avLst/>
          </a:prstGeom>
          <a:noFill/>
          <a:ln/>
        </p:spPr>
        <p:txBody>
          <a:bodyPr wrap="square" lIns="0" tIns="0" rIns="0" bIns="0" rtlCol="0" anchor="t">
            <a:normAutofit/>
          </a:bodyPr>
          <a:lstStyle/>
          <a:p>
            <a:pPr algn="l" indent="0" marL="0">
              <a:lnSpc>
                <a:spcPts val="1958"/>
              </a:lnSpc>
              <a:buNone/>
            </a:pPr>
            <a:r>
              <a:rPr lang="en-US" sz="1350" dirty="0">
                <a:solidFill>
                  <a:srgbClr val="4C5A66"/>
                </a:solidFill>
                <a:latin typeface="IBM Plex Sans" pitchFamily="34" charset="0"/>
                <a:ea typeface="IBM Plex Sans" pitchFamily="34" charset="-122"/>
                <a:cs typeface="IBM Plex Sans" pitchFamily="34" charset="-120"/>
              </a:rPr>
              <a:t>Pass or fail, the defect type, and a confidence score — returned fast enough to sit inside the cycle time.</a:t>
            </a:r>
            <a:endParaRPr lang="en-US" sz="1350" dirty="0"/>
          </a:p>
        </p:txBody>
      </p:sp>
      <p:sp>
        <p:nvSpPr>
          <p:cNvPr id="17" name="Shape 13"/>
          <p:cNvSpPr/>
          <p:nvPr/>
        </p:nvSpPr>
        <p:spPr>
          <a:xfrm>
            <a:off x="812783" y="3879940"/>
            <a:ext cx="10566433" cy="885925"/>
          </a:xfrm>
          <a:prstGeom prst="roundRect">
            <a:avLst>
              <a:gd name="adj" fmla="val 2867"/>
            </a:avLst>
          </a:prstGeom>
          <a:solidFill>
            <a:srgbClr val="E7ECEF"/>
          </a:solidFill>
          <a:ln/>
        </p:spPr>
      </p:sp>
      <p:sp>
        <p:nvSpPr>
          <p:cNvPr id="18" name="Shape 14"/>
          <p:cNvSpPr/>
          <p:nvPr/>
        </p:nvSpPr>
        <p:spPr>
          <a:xfrm>
            <a:off x="825483" y="3879940"/>
            <a:ext cx="0" cy="885925"/>
          </a:xfrm>
          <a:prstGeom prst="line">
            <a:avLst/>
          </a:prstGeom>
          <a:noFill/>
          <a:ln w="25400">
            <a:solidFill>
              <a:srgbClr val="15618F"/>
            </a:solidFill>
            <a:prstDash val="solid"/>
          </a:ln>
        </p:spPr>
      </p:sp>
      <p:sp>
        <p:nvSpPr>
          <p:cNvPr id="19" name="Text 15"/>
          <p:cNvSpPr/>
          <p:nvPr/>
        </p:nvSpPr>
        <p:spPr>
          <a:xfrm>
            <a:off x="1039920" y="4057740"/>
            <a:ext cx="10440179" cy="555725"/>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101820"/>
                </a:solidFill>
                <a:latin typeface="IBM Plex Sans" pitchFamily="34" charset="0"/>
                <a:ea typeface="IBM Plex Sans" pitchFamily="34" charset="-122"/>
                <a:cs typeface="IBM Plex Sans" pitchFamily="34" charset="-120"/>
              </a:rPr>
              <a:t>Freezing the big model is the whole trick. We never retrain the part that took years — only the thin layer on top. That is what turns weeks into hours.</a:t>
            </a:r>
            <a:endParaRPr lang="en-US" sz="1600" dirty="0"/>
          </a:p>
        </p:txBody>
      </p:sp>
      <p:sp>
        <p:nvSpPr>
          <p:cNvPr id="20" name="Text 16"/>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6"/>
        </a:solidFill>
      </p:bgPr>
    </p:bg>
    <p:spTree>
      <p:nvGrpSpPr>
        <p:cNvPr id="1" name=""/>
        <p:cNvGrpSpPr/>
        <p:nvPr/>
      </p:nvGrpSpPr>
      <p:grpSpPr>
        <a:xfrm>
          <a:off x="0" y="0"/>
          <a:ext cx="0" cy="0"/>
          <a:chOff x="0" y="0"/>
          <a:chExt cx="0" cy="0"/>
        </a:xfrm>
      </p:grpSpPr>
      <p:sp>
        <p:nvSpPr>
          <p:cNvPr id="2" name="Text 0"/>
          <p:cNvSpPr/>
          <p:nvPr/>
        </p:nvSpPr>
        <p:spPr>
          <a:xfrm>
            <a:off x="812783" y="812781"/>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101820"/>
                </a:solidFill>
                <a:latin typeface="Barlow Condensed" pitchFamily="34" charset="0"/>
                <a:ea typeface="Barlow Condensed" pitchFamily="34" charset="-122"/>
                <a:cs typeface="Barlow Condensed" pitchFamily="34" charset="-120"/>
              </a:rPr>
              <a:t>How a customer actually uses it</a:t>
            </a:r>
            <a:endParaRPr lang="en-US" sz="4400" dirty="0"/>
          </a:p>
        </p:txBody>
      </p:sp>
      <p:sp>
        <p:nvSpPr>
          <p:cNvPr id="3" name="Text 1"/>
          <p:cNvSpPr/>
          <p:nvPr/>
        </p:nvSpPr>
        <p:spPr>
          <a:xfrm>
            <a:off x="812783" y="1584799"/>
            <a:ext cx="3488295" cy="391148"/>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5618F"/>
                </a:solidFill>
                <a:latin typeface="Barlow Condensed" pitchFamily="34" charset="0"/>
                <a:ea typeface="Barlow Condensed" pitchFamily="34" charset="-122"/>
                <a:cs typeface="Barlow Condensed" pitchFamily="34" charset="-120"/>
              </a:rPr>
              <a:t>01</a:t>
            </a:r>
            <a:endParaRPr lang="en-US" sz="3200" dirty="0"/>
          </a:p>
        </p:txBody>
      </p:sp>
      <p:sp>
        <p:nvSpPr>
          <p:cNvPr id="4" name="Text 2"/>
          <p:cNvSpPr/>
          <p:nvPr/>
        </p:nvSpPr>
        <p:spPr>
          <a:xfrm>
            <a:off x="812783" y="2052114"/>
            <a:ext cx="3488295" cy="28600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0"/>
                </a:solidFill>
                <a:latin typeface="IBM Plex Sans" pitchFamily="34" charset="0"/>
                <a:ea typeface="IBM Plex Sans" pitchFamily="34" charset="-122"/>
                <a:cs typeface="IBM Plex Sans" pitchFamily="34" charset="-120"/>
              </a:rPr>
              <a:t>Upload</a:t>
            </a:r>
            <a:endParaRPr lang="en-US" sz="1900" dirty="0"/>
          </a:p>
        </p:txBody>
      </p:sp>
      <p:sp>
        <p:nvSpPr>
          <p:cNvPr id="5" name="Text 3"/>
          <p:cNvSpPr/>
          <p:nvPr/>
        </p:nvSpPr>
        <p:spPr>
          <a:xfrm>
            <a:off x="812783" y="2414287"/>
            <a:ext cx="3488295" cy="746258"/>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C5A66"/>
                </a:solidFill>
                <a:latin typeface="IBM Plex Sans" pitchFamily="34" charset="0"/>
                <a:ea typeface="IBM Plex Sans" pitchFamily="34" charset="-122"/>
                <a:cs typeface="IBM Plex Sans" pitchFamily="34" charset="-120"/>
              </a:rPr>
              <a:t>They drop labelled photos into our web platform — good, bad, and which defect it is. No data scientist involved.</a:t>
            </a:r>
            <a:endParaRPr lang="en-US" sz="1450" dirty="0"/>
          </a:p>
        </p:txBody>
      </p:sp>
      <p:sp>
        <p:nvSpPr>
          <p:cNvPr id="6" name="Text 4"/>
          <p:cNvSpPr/>
          <p:nvPr/>
        </p:nvSpPr>
        <p:spPr>
          <a:xfrm>
            <a:off x="4402653" y="1584799"/>
            <a:ext cx="3488295" cy="391148"/>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5618F"/>
                </a:solidFill>
                <a:latin typeface="Barlow Condensed" pitchFamily="34" charset="0"/>
                <a:ea typeface="Barlow Condensed" pitchFamily="34" charset="-122"/>
                <a:cs typeface="Barlow Condensed" pitchFamily="34" charset="-120"/>
              </a:rPr>
              <a:t>02</a:t>
            </a:r>
            <a:endParaRPr lang="en-US" sz="3200" dirty="0"/>
          </a:p>
        </p:txBody>
      </p:sp>
      <p:sp>
        <p:nvSpPr>
          <p:cNvPr id="7" name="Text 5"/>
          <p:cNvSpPr/>
          <p:nvPr/>
        </p:nvSpPr>
        <p:spPr>
          <a:xfrm>
            <a:off x="4402653" y="2052114"/>
            <a:ext cx="3488295" cy="28600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0"/>
                </a:solidFill>
                <a:latin typeface="IBM Plex Sans" pitchFamily="34" charset="0"/>
                <a:ea typeface="IBM Plex Sans" pitchFamily="34" charset="-122"/>
                <a:cs typeface="IBM Plex Sans" pitchFamily="34" charset="-120"/>
              </a:rPr>
              <a:t>Train</a:t>
            </a:r>
            <a:endParaRPr lang="en-US" sz="1900" dirty="0"/>
          </a:p>
        </p:txBody>
      </p:sp>
      <p:sp>
        <p:nvSpPr>
          <p:cNvPr id="8" name="Text 6"/>
          <p:cNvSpPr/>
          <p:nvPr/>
        </p:nvSpPr>
        <p:spPr>
          <a:xfrm>
            <a:off x="4402653" y="2414287"/>
            <a:ext cx="3488295" cy="746258"/>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C5A66"/>
                </a:solidFill>
                <a:latin typeface="IBM Plex Sans" pitchFamily="34" charset="0"/>
                <a:ea typeface="IBM Plex Sans" pitchFamily="34" charset="-122"/>
                <a:cs typeface="IBM Plex Sans" pitchFamily="34" charset="-120"/>
              </a:rPr>
              <a:t>Their private adapter fine-tunes automatically on top of the foundation model. Hours, not weeks, and no engineer per customer.</a:t>
            </a:r>
            <a:endParaRPr lang="en-US" sz="1450" dirty="0"/>
          </a:p>
        </p:txBody>
      </p:sp>
      <p:sp>
        <p:nvSpPr>
          <p:cNvPr id="9" name="Text 7"/>
          <p:cNvSpPr/>
          <p:nvPr/>
        </p:nvSpPr>
        <p:spPr>
          <a:xfrm>
            <a:off x="7992522" y="1584799"/>
            <a:ext cx="3488295" cy="391148"/>
          </a:xfrm>
          <a:prstGeom prst="rect">
            <a:avLst/>
          </a:prstGeom>
          <a:noFill/>
          <a:ln/>
        </p:spPr>
        <p:txBody>
          <a:bodyPr wrap="square" lIns="0" tIns="0" rIns="0" bIns="0" rtlCol="0" anchor="t">
            <a:normAutofit/>
          </a:bodyPr>
          <a:lstStyle/>
          <a:p>
            <a:pPr algn="l" indent="0" marL="0">
              <a:lnSpc>
                <a:spcPts val="3200"/>
              </a:lnSpc>
              <a:buNone/>
            </a:pPr>
            <a:r>
              <a:rPr lang="en-US" sz="3200" b="1" dirty="0">
                <a:solidFill>
                  <a:srgbClr val="15618F"/>
                </a:solidFill>
                <a:latin typeface="Barlow Condensed" pitchFamily="34" charset="0"/>
                <a:ea typeface="Barlow Condensed" pitchFamily="34" charset="-122"/>
                <a:cs typeface="Barlow Condensed" pitchFamily="34" charset="-120"/>
              </a:rPr>
              <a:t>03</a:t>
            </a:r>
            <a:endParaRPr lang="en-US" sz="3200" dirty="0"/>
          </a:p>
        </p:txBody>
      </p:sp>
      <p:sp>
        <p:nvSpPr>
          <p:cNvPr id="10" name="Text 8"/>
          <p:cNvSpPr/>
          <p:nvPr/>
        </p:nvSpPr>
        <p:spPr>
          <a:xfrm>
            <a:off x="7992522" y="2052114"/>
            <a:ext cx="3488295" cy="286008"/>
          </a:xfrm>
          <a:prstGeom prst="rect">
            <a:avLst/>
          </a:prstGeom>
          <a:noFill/>
          <a:ln/>
        </p:spPr>
        <p:txBody>
          <a:bodyPr wrap="square" lIns="0" tIns="0" rIns="0" bIns="0" rtlCol="0" anchor="t">
            <a:normAutofit/>
          </a:bodyPr>
          <a:lstStyle/>
          <a:p>
            <a:pPr algn="l" indent="0" marL="0">
              <a:lnSpc>
                <a:spcPts val="2280"/>
              </a:lnSpc>
              <a:buNone/>
            </a:pPr>
            <a:r>
              <a:rPr lang="en-US" sz="1900" b="1" dirty="0">
                <a:solidFill>
                  <a:srgbClr val="101820"/>
                </a:solidFill>
                <a:latin typeface="IBM Plex Sans" pitchFamily="34" charset="0"/>
                <a:ea typeface="IBM Plex Sans" pitchFamily="34" charset="-122"/>
                <a:cs typeface="IBM Plex Sans" pitchFamily="34" charset="-120"/>
              </a:rPr>
              <a:t>Call</a:t>
            </a:r>
            <a:endParaRPr lang="en-US" sz="1900" dirty="0"/>
          </a:p>
        </p:txBody>
      </p:sp>
      <p:sp>
        <p:nvSpPr>
          <p:cNvPr id="11" name="Text 9"/>
          <p:cNvSpPr/>
          <p:nvPr/>
        </p:nvSpPr>
        <p:spPr>
          <a:xfrm>
            <a:off x="7992522" y="2414287"/>
            <a:ext cx="3488295" cy="505972"/>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4C5A66"/>
                </a:solidFill>
                <a:latin typeface="IBM Plex Sans" pitchFamily="34" charset="0"/>
                <a:ea typeface="IBM Plex Sans" pitchFamily="34" charset="-122"/>
                <a:cs typeface="IBM Plex Sans" pitchFamily="34" charset="-120"/>
              </a:rPr>
              <a:t>Their line sends an image to the API and gets a verdict back inside the cycle time.</a:t>
            </a:r>
            <a:endParaRPr lang="en-US" sz="1450" dirty="0"/>
          </a:p>
        </p:txBody>
      </p:sp>
      <p:sp>
        <p:nvSpPr>
          <p:cNvPr id="12" name="Shape 10"/>
          <p:cNvSpPr/>
          <p:nvPr/>
        </p:nvSpPr>
        <p:spPr>
          <a:xfrm>
            <a:off x="812783" y="3389145"/>
            <a:ext cx="4445000" cy="1337656"/>
          </a:xfrm>
          <a:prstGeom prst="roundRect">
            <a:avLst>
              <a:gd name="adj" fmla="val 4747"/>
            </a:avLst>
          </a:prstGeom>
          <a:solidFill>
            <a:srgbClr val="101820"/>
          </a:solidFill>
          <a:ln/>
        </p:spPr>
      </p:sp>
      <p:sp>
        <p:nvSpPr>
          <p:cNvPr id="13" name="Text 11"/>
          <p:cNvSpPr/>
          <p:nvPr/>
        </p:nvSpPr>
        <p:spPr>
          <a:xfrm>
            <a:off x="1028675" y="3579645"/>
            <a:ext cx="4133613" cy="982056"/>
          </a:xfrm>
          <a:prstGeom prst="rect">
            <a:avLst/>
          </a:prstGeom>
          <a:noFill/>
          <a:ln/>
        </p:spPr>
        <p:txBody>
          <a:bodyPr wrap="square" lIns="0" tIns="0" rIns="0" bIns="0" rtlCol="0" anchor="t">
            <a:normAutofit/>
          </a:bodyPr>
          <a:lstStyle/>
          <a:p>
            <a:pPr algn="l" indent="0" marL="0">
              <a:lnSpc>
                <a:spcPts val="2093"/>
              </a:lnSpc>
              <a:buNone/>
            </a:pPr>
            <a:r>
              <a:rPr lang="en-US" sz="1350" dirty="0">
                <a:solidFill>
                  <a:srgbClr val="8FD8B4"/>
                </a:solidFill>
                <a:latin typeface="Courier New" pitchFamily="34" charset="0"/>
                <a:ea typeface="Courier New" pitchFamily="34" charset="-122"/>
                <a:cs typeface="Courier New" pitchFamily="34" charset="-120"/>
              </a:rPr>
              <a:t>{ "verdict": "fail",</a:t>
            </a:r>
            <a:endParaRPr lang="en-US" sz="1350" dirty="0"/>
          </a:p>
          <a:p>
            <a:pPr algn="l" indent="0" marL="0">
              <a:lnSpc>
                <a:spcPts val="2093"/>
              </a:lnSpc>
              <a:buNone/>
            </a:pPr>
            <a:r>
              <a:rPr lang="en-US" sz="1350" dirty="0">
                <a:solidFill>
                  <a:srgbClr val="8FD8B4"/>
                </a:solidFill>
                <a:latin typeface="Courier New" pitchFamily="34" charset="0"/>
                <a:ea typeface="Courier New" pitchFamily="34" charset="-122"/>
                <a:cs typeface="Courier New" pitchFamily="34" charset="-120"/>
              </a:rPr>
              <a:t>  "defect": "surface_crack",</a:t>
            </a:r>
            <a:endParaRPr lang="en-US" sz="1350" dirty="0"/>
          </a:p>
          <a:p>
            <a:pPr algn="l" indent="0" marL="0">
              <a:lnSpc>
                <a:spcPts val="2093"/>
              </a:lnSpc>
              <a:buNone/>
            </a:pPr>
            <a:r>
              <a:rPr lang="en-US" sz="1350" dirty="0">
                <a:solidFill>
                  <a:srgbClr val="8FD8B4"/>
                </a:solidFill>
                <a:latin typeface="Courier New" pitchFamily="34" charset="0"/>
                <a:ea typeface="Courier New" pitchFamily="34" charset="-122"/>
                <a:cs typeface="Courier New" pitchFamily="34" charset="-120"/>
              </a:rPr>
              <a:t>  "confidence": 0.94,</a:t>
            </a:r>
            <a:endParaRPr lang="en-US" sz="1350" dirty="0"/>
          </a:p>
          <a:p>
            <a:pPr algn="l" indent="0" marL="0">
              <a:lnSpc>
                <a:spcPts val="2093"/>
              </a:lnSpc>
              <a:buNone/>
            </a:pPr>
            <a:r>
              <a:rPr lang="en-US" sz="1350" dirty="0">
                <a:solidFill>
                  <a:srgbClr val="8FD8B4"/>
                </a:solidFill>
                <a:latin typeface="Courier New" pitchFamily="34" charset="0"/>
                <a:ea typeface="Courier New" pitchFamily="34" charset="-122"/>
                <a:cs typeface="Courier New" pitchFamily="34" charset="-120"/>
              </a:rPr>
              <a:t>  "latency_ms": 180 }</a:t>
            </a:r>
            <a:endParaRPr lang="en-US" sz="1350" dirty="0"/>
          </a:p>
        </p:txBody>
      </p:sp>
      <p:sp>
        <p:nvSpPr>
          <p:cNvPr id="14" name="Text 12"/>
          <p:cNvSpPr/>
          <p:nvPr/>
        </p:nvSpPr>
        <p:spPr>
          <a:xfrm>
            <a:off x="5460958" y="3685077"/>
            <a:ext cx="6095806" cy="771193"/>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4C5A66"/>
                </a:solidFill>
                <a:latin typeface="IBM Plex Sans" pitchFamily="34" charset="0"/>
                <a:ea typeface="IBM Plex Sans" pitchFamily="34" charset="-122"/>
                <a:cs typeface="IBM Plex Sans" pitchFamily="34" charset="-120"/>
              </a:rPr>
              <a:t>API first means nothing to ship, nothing to install, and a customer can be live the day they sign up. An on-site version follows for plants that cannot send images off the shop floor — and many cannot.</a:t>
            </a:r>
            <a:endParaRPr lang="en-US" sz="1500" dirty="0"/>
          </a:p>
        </p:txBody>
      </p:sp>
      <p:sp>
        <p:nvSpPr>
          <p:cNvPr id="15" name="Text 13"/>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820"/>
        </a:solidFill>
      </p:bgPr>
    </p:bg>
    <p:spTree>
      <p:nvGrpSpPr>
        <p:cNvPr id="1" name=""/>
        <p:cNvGrpSpPr/>
        <p:nvPr/>
      </p:nvGrpSpPr>
      <p:grpSpPr>
        <a:xfrm>
          <a:off x="0" y="0"/>
          <a:ext cx="0" cy="0"/>
          <a:chOff x="0" y="0"/>
          <a:chExt cx="0" cy="0"/>
        </a:xfrm>
      </p:grpSpPr>
      <p:sp>
        <p:nvSpPr>
          <p:cNvPr id="2" name="Text 0"/>
          <p:cNvSpPr/>
          <p:nvPr/>
        </p:nvSpPr>
        <p:spPr>
          <a:xfrm>
            <a:off x="812783" y="812781"/>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F3F5F6"/>
                </a:solidFill>
                <a:latin typeface="Barlow Condensed" pitchFamily="34" charset="0"/>
                <a:ea typeface="Barlow Condensed" pitchFamily="34" charset="-122"/>
                <a:cs typeface="Barlow Condensed" pitchFamily="34" charset="-120"/>
              </a:rPr>
              <a:t>You pay for what you use</a:t>
            </a:r>
            <a:endParaRPr lang="en-US" sz="4400" dirty="0"/>
          </a:p>
        </p:txBody>
      </p:sp>
      <p:sp>
        <p:nvSpPr>
          <p:cNvPr id="3" name="Shape 1"/>
          <p:cNvSpPr/>
          <p:nvPr/>
        </p:nvSpPr>
        <p:spPr>
          <a:xfrm>
            <a:off x="812783" y="1584796"/>
            <a:ext cx="5181608" cy="1835142"/>
          </a:xfrm>
          <a:prstGeom prst="roundRect">
            <a:avLst>
              <a:gd name="adj" fmla="val 2768"/>
            </a:avLst>
          </a:prstGeom>
          <a:solidFill>
            <a:srgbClr val="18222C"/>
          </a:solidFill>
          <a:ln/>
        </p:spPr>
      </p:sp>
      <p:sp>
        <p:nvSpPr>
          <p:cNvPr id="4" name="Shape 2"/>
          <p:cNvSpPr/>
          <p:nvPr/>
        </p:nvSpPr>
        <p:spPr>
          <a:xfrm>
            <a:off x="812783" y="1597496"/>
            <a:ext cx="5181608" cy="0"/>
          </a:xfrm>
          <a:prstGeom prst="line">
            <a:avLst/>
          </a:prstGeom>
          <a:noFill/>
          <a:ln w="25400">
            <a:solidFill>
              <a:srgbClr val="E0A03C"/>
            </a:solidFill>
            <a:prstDash val="solid"/>
          </a:ln>
        </p:spPr>
      </p:sp>
      <p:sp>
        <p:nvSpPr>
          <p:cNvPr id="5" name="Text 3"/>
          <p:cNvSpPr/>
          <p:nvPr/>
        </p:nvSpPr>
        <p:spPr>
          <a:xfrm>
            <a:off x="1066783" y="1862736"/>
            <a:ext cx="4813816"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0A03C"/>
                </a:solidFill>
                <a:latin typeface="IBM Plex Sans" pitchFamily="34" charset="0"/>
                <a:ea typeface="IBM Plex Sans" pitchFamily="34" charset="-122"/>
                <a:cs typeface="IBM Plex Sans" pitchFamily="34" charset="-120"/>
              </a:rPr>
              <a:t>TRAINING TOKENS</a:t>
            </a:r>
            <a:endParaRPr lang="en-US" sz="1300" dirty="0"/>
          </a:p>
        </p:txBody>
      </p:sp>
      <p:sp>
        <p:nvSpPr>
          <p:cNvPr id="6" name="Text 4"/>
          <p:cNvSpPr/>
          <p:nvPr/>
        </p:nvSpPr>
        <p:spPr>
          <a:xfrm>
            <a:off x="1066783" y="2172339"/>
            <a:ext cx="4813816" cy="436862"/>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F5F6"/>
                </a:solidFill>
                <a:latin typeface="Barlow Condensed" pitchFamily="34" charset="0"/>
                <a:ea typeface="Barlow Condensed" pitchFamily="34" charset="-122"/>
                <a:cs typeface="Barlow Condensed" pitchFamily="34" charset="-120"/>
              </a:rPr>
              <a:t>€5–10 </a:t>
            </a:r>
            <a:r>
              <a:rPr lang="en-US" sz="3600" b="1" dirty="0">
                <a:solidFill>
                  <a:srgbClr val="A8BAC6"/>
                </a:solidFill>
                <a:latin typeface="Barlow Condensed" pitchFamily="34" charset="0"/>
                <a:ea typeface="Barlow Condensed" pitchFamily="34" charset="-122"/>
                <a:cs typeface="Barlow Condensed" pitchFamily="34" charset="-120"/>
              </a:rPr>
              <a:t>/ image</a:t>
            </a:r>
            <a:endParaRPr lang="en-US" sz="3600" dirty="0"/>
          </a:p>
        </p:txBody>
      </p:sp>
      <p:sp>
        <p:nvSpPr>
          <p:cNvPr id="7" name="Text 5"/>
          <p:cNvSpPr/>
          <p:nvPr/>
        </p:nvSpPr>
        <p:spPr>
          <a:xfrm>
            <a:off x="1066783" y="2685368"/>
            <a:ext cx="4813816" cy="505972"/>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A8BAC6"/>
                </a:solidFill>
                <a:latin typeface="IBM Plex Sans" pitchFamily="34" charset="0"/>
                <a:ea typeface="IBM Plex Sans" pitchFamily="34" charset="-122"/>
                <a:cs typeface="IBM Plex Sans" pitchFamily="34" charset="-120"/>
              </a:rPr>
              <a:t>Charged on the labelled images used to teach a new defect. A hundred images is €500–1,000 — against €20–40k the old way.</a:t>
            </a:r>
            <a:endParaRPr lang="en-US" sz="1450" dirty="0"/>
          </a:p>
        </p:txBody>
      </p:sp>
      <p:sp>
        <p:nvSpPr>
          <p:cNvPr id="8" name="Shape 6"/>
          <p:cNvSpPr/>
          <p:nvPr/>
        </p:nvSpPr>
        <p:spPr>
          <a:xfrm>
            <a:off x="6197567" y="1584796"/>
            <a:ext cx="5181650" cy="1835142"/>
          </a:xfrm>
          <a:prstGeom prst="roundRect">
            <a:avLst>
              <a:gd name="adj" fmla="val 2768"/>
            </a:avLst>
          </a:prstGeom>
          <a:solidFill>
            <a:srgbClr val="18222C"/>
          </a:solidFill>
          <a:ln/>
        </p:spPr>
      </p:sp>
      <p:sp>
        <p:nvSpPr>
          <p:cNvPr id="9" name="Shape 7"/>
          <p:cNvSpPr/>
          <p:nvPr/>
        </p:nvSpPr>
        <p:spPr>
          <a:xfrm>
            <a:off x="6197567" y="1597496"/>
            <a:ext cx="5181650" cy="0"/>
          </a:xfrm>
          <a:prstGeom prst="line">
            <a:avLst/>
          </a:prstGeom>
          <a:noFill/>
          <a:ln w="25400">
            <a:solidFill>
              <a:srgbClr val="E0A03C"/>
            </a:solidFill>
            <a:prstDash val="solid"/>
          </a:ln>
        </p:spPr>
      </p:sp>
      <p:sp>
        <p:nvSpPr>
          <p:cNvPr id="10" name="Text 8"/>
          <p:cNvSpPr/>
          <p:nvPr/>
        </p:nvSpPr>
        <p:spPr>
          <a:xfrm>
            <a:off x="6451567" y="1862736"/>
            <a:ext cx="4813859"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E0A03C"/>
                </a:solidFill>
                <a:latin typeface="IBM Plex Sans" pitchFamily="34" charset="0"/>
                <a:ea typeface="IBM Plex Sans" pitchFamily="34" charset="-122"/>
                <a:cs typeface="IBM Plex Sans" pitchFamily="34" charset="-120"/>
              </a:rPr>
              <a:t>INFERENCE TOKENS</a:t>
            </a:r>
            <a:endParaRPr lang="en-US" sz="1300" dirty="0"/>
          </a:p>
        </p:txBody>
      </p:sp>
      <p:sp>
        <p:nvSpPr>
          <p:cNvPr id="11" name="Text 9"/>
          <p:cNvSpPr/>
          <p:nvPr/>
        </p:nvSpPr>
        <p:spPr>
          <a:xfrm>
            <a:off x="6451567" y="2172339"/>
            <a:ext cx="4813859" cy="436862"/>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F3F5F6"/>
                </a:solidFill>
                <a:latin typeface="Barlow Condensed" pitchFamily="34" charset="0"/>
                <a:ea typeface="Barlow Condensed" pitchFamily="34" charset="-122"/>
                <a:cs typeface="Barlow Condensed" pitchFamily="34" charset="-120"/>
              </a:rPr>
              <a:t>€0.05–0.15 </a:t>
            </a:r>
            <a:r>
              <a:rPr lang="en-US" sz="3600" b="1" dirty="0">
                <a:solidFill>
                  <a:srgbClr val="A8BAC6"/>
                </a:solidFill>
                <a:latin typeface="Barlow Condensed" pitchFamily="34" charset="0"/>
                <a:ea typeface="Barlow Condensed" pitchFamily="34" charset="-122"/>
                <a:cs typeface="Barlow Condensed" pitchFamily="34" charset="-120"/>
              </a:rPr>
              <a:t>/ part</a:t>
            </a:r>
            <a:endParaRPr lang="en-US" sz="3600" dirty="0"/>
          </a:p>
        </p:txBody>
      </p:sp>
      <p:sp>
        <p:nvSpPr>
          <p:cNvPr id="12" name="Text 10"/>
          <p:cNvSpPr/>
          <p:nvPr/>
        </p:nvSpPr>
        <p:spPr>
          <a:xfrm>
            <a:off x="6451567" y="2685368"/>
            <a:ext cx="4813859" cy="505972"/>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A8BAC6"/>
                </a:solidFill>
                <a:latin typeface="IBM Plex Sans" pitchFamily="34" charset="0"/>
                <a:ea typeface="IBM Plex Sans" pitchFamily="34" charset="-122"/>
                <a:cs typeface="IBM Plex Sans" pitchFamily="34" charset="-120"/>
              </a:rPr>
              <a:t>Charged per part inspected in production, with volume tiers as a customer scales from one line to a plant.</a:t>
            </a:r>
            <a:endParaRPr lang="en-US" sz="1450" dirty="0"/>
          </a:p>
        </p:txBody>
      </p:sp>
      <p:sp>
        <p:nvSpPr>
          <p:cNvPr id="13" name="Text 11"/>
          <p:cNvSpPr/>
          <p:nvPr/>
        </p:nvSpPr>
        <p:spPr>
          <a:xfrm>
            <a:off x="812783" y="3673940"/>
            <a:ext cx="5337056" cy="746258"/>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A8BAC6"/>
                </a:solidFill>
                <a:latin typeface="IBM Plex Sans" pitchFamily="34" charset="0"/>
                <a:ea typeface="IBM Plex Sans" pitchFamily="34" charset="-122"/>
                <a:cs typeface="IBM Plex Sans" pitchFamily="34" charset="-120"/>
              </a:rPr>
              <a:t>No capital purchase, no hardware, no committee. A plant manager can start without an investment approval — which is the difference between a decision this quarter and a decision next year.</a:t>
            </a:r>
            <a:endParaRPr lang="en-US" sz="1450" dirty="0"/>
          </a:p>
        </p:txBody>
      </p:sp>
      <p:sp>
        <p:nvSpPr>
          <p:cNvPr id="14" name="Text 12"/>
          <p:cNvSpPr/>
          <p:nvPr/>
        </p:nvSpPr>
        <p:spPr>
          <a:xfrm>
            <a:off x="6197567" y="3673940"/>
            <a:ext cx="5337099" cy="746258"/>
          </a:xfrm>
          <a:prstGeom prst="rect">
            <a:avLst/>
          </a:prstGeom>
          <a:noFill/>
          <a:ln/>
        </p:spPr>
        <p:txBody>
          <a:bodyPr wrap="square" lIns="0" tIns="0" rIns="0" bIns="0" rtlCol="0" anchor="t">
            <a:normAutofit/>
          </a:bodyPr>
          <a:lstStyle/>
          <a:p>
            <a:pPr algn="l" indent="0" marL="0">
              <a:lnSpc>
                <a:spcPts val="2103"/>
              </a:lnSpc>
              <a:buNone/>
            </a:pPr>
            <a:r>
              <a:rPr lang="en-US" sz="1450" dirty="0">
                <a:solidFill>
                  <a:srgbClr val="A8BAC6"/>
                </a:solidFill>
                <a:latin typeface="IBM Plex Sans" pitchFamily="34" charset="0"/>
                <a:ea typeface="IBM Plex Sans" pitchFamily="34" charset="-122"/>
                <a:cs typeface="IBM Plex Sans" pitchFamily="34" charset="-120"/>
              </a:rPr>
              <a:t>The honest trade-off: usage pricing is easy to say yes to and harder to forecast. We would rather win the first hundred customers than protect a revenue model we have not tested.</a:t>
            </a:r>
            <a:endParaRPr lang="en-US" sz="1450" dirty="0"/>
          </a:p>
        </p:txBody>
      </p:sp>
      <p:sp>
        <p:nvSpPr>
          <p:cNvPr id="15" name="Text 13"/>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6"/>
        </a:solidFill>
      </p:bgPr>
    </p:bg>
    <p:spTree>
      <p:nvGrpSpPr>
        <p:cNvPr id="1" name=""/>
        <p:cNvGrpSpPr/>
        <p:nvPr/>
      </p:nvGrpSpPr>
      <p:grpSpPr>
        <a:xfrm>
          <a:off x="0" y="0"/>
          <a:ext cx="0" cy="0"/>
          <a:chOff x="0" y="0"/>
          <a:chExt cx="0" cy="0"/>
        </a:xfrm>
      </p:grpSpPr>
      <p:sp>
        <p:nvSpPr>
          <p:cNvPr id="2" name="Text 0"/>
          <p:cNvSpPr/>
          <p:nvPr/>
        </p:nvSpPr>
        <p:spPr>
          <a:xfrm>
            <a:off x="812783" y="812781"/>
            <a:ext cx="10883426" cy="543415"/>
          </a:xfrm>
          <a:prstGeom prst="rect">
            <a:avLst/>
          </a:prstGeom>
          <a:noFill/>
          <a:ln/>
        </p:spPr>
        <p:txBody>
          <a:bodyPr wrap="square" lIns="0" tIns="0" rIns="0" bIns="0" rtlCol="0" anchor="t">
            <a:normAutofit/>
          </a:bodyPr>
          <a:lstStyle/>
          <a:p>
            <a:pPr algn="l" indent="0" marL="0">
              <a:lnSpc>
                <a:spcPts val="4532"/>
              </a:lnSpc>
              <a:buNone/>
            </a:pPr>
            <a:r>
              <a:rPr lang="en-US" sz="4400" b="1" dirty="0">
                <a:solidFill>
                  <a:srgbClr val="101820"/>
                </a:solidFill>
                <a:latin typeface="Barlow Condensed" pitchFamily="34" charset="0"/>
                <a:ea typeface="Barlow Condensed" pitchFamily="34" charset="-122"/>
                <a:cs typeface="Barlow Condensed" pitchFamily="34" charset="-120"/>
              </a:rPr>
              <a:t>The first three months</a:t>
            </a:r>
            <a:endParaRPr lang="en-US" sz="4400" dirty="0"/>
          </a:p>
        </p:txBody>
      </p:sp>
      <p:sp>
        <p:nvSpPr>
          <p:cNvPr id="3" name="Shape 1"/>
          <p:cNvSpPr/>
          <p:nvPr/>
        </p:nvSpPr>
        <p:spPr>
          <a:xfrm>
            <a:off x="812783" y="1559365"/>
            <a:ext cx="3403608" cy="3100861"/>
          </a:xfrm>
          <a:prstGeom prst="roundRect">
            <a:avLst>
              <a:gd name="adj" fmla="val 2048"/>
            </a:avLst>
          </a:prstGeom>
          <a:solidFill>
            <a:srgbClr val="FFFFFF"/>
          </a:solidFill>
          <a:ln/>
        </p:spPr>
      </p:sp>
      <p:sp>
        <p:nvSpPr>
          <p:cNvPr id="4" name="Shape 2"/>
          <p:cNvSpPr/>
          <p:nvPr/>
        </p:nvSpPr>
        <p:spPr>
          <a:xfrm>
            <a:off x="812783" y="1572065"/>
            <a:ext cx="3403608" cy="0"/>
          </a:xfrm>
          <a:prstGeom prst="line">
            <a:avLst/>
          </a:prstGeom>
          <a:noFill/>
          <a:ln w="25400">
            <a:solidFill>
              <a:srgbClr val="15618F"/>
            </a:solidFill>
            <a:prstDash val="solid"/>
          </a:ln>
        </p:spPr>
      </p:sp>
      <p:sp>
        <p:nvSpPr>
          <p:cNvPr id="5" name="Text 3"/>
          <p:cNvSpPr/>
          <p:nvPr/>
        </p:nvSpPr>
        <p:spPr>
          <a:xfrm>
            <a:off x="1041350" y="1811868"/>
            <a:ext cx="3034869"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A6410"/>
                </a:solidFill>
                <a:latin typeface="IBM Plex Sans" pitchFamily="34" charset="0"/>
                <a:ea typeface="IBM Plex Sans" pitchFamily="34" charset="-122"/>
                <a:cs typeface="IBM Plex Sans" pitchFamily="34" charset="-120"/>
              </a:rPr>
              <a:t>MONTH 1</a:t>
            </a:r>
            <a:endParaRPr lang="en-US" sz="1300" dirty="0"/>
          </a:p>
        </p:txBody>
      </p:sp>
      <p:sp>
        <p:nvSpPr>
          <p:cNvPr id="6" name="Text 4"/>
          <p:cNvSpPr/>
          <p:nvPr/>
        </p:nvSpPr>
        <p:spPr>
          <a:xfrm>
            <a:off x="1041350" y="2134189"/>
            <a:ext cx="3034869" cy="288293"/>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01820"/>
                </a:solidFill>
                <a:latin typeface="IBM Plex Sans" pitchFamily="34" charset="0"/>
                <a:ea typeface="IBM Plex Sans" pitchFamily="34" charset="-122"/>
                <a:cs typeface="IBM Plex Sans" pitchFamily="34" charset="-120"/>
              </a:rPr>
              <a:t>Prove it works</a:t>
            </a:r>
            <a:endParaRPr lang="en-US" sz="2000" dirty="0"/>
          </a:p>
        </p:txBody>
      </p:sp>
      <p:sp>
        <p:nvSpPr>
          <p:cNvPr id="7" name="Text 5"/>
          <p:cNvSpPr/>
          <p:nvPr/>
        </p:nvSpPr>
        <p:spPr>
          <a:xfrm>
            <a:off x="1041350" y="2511366"/>
            <a:ext cx="3034869" cy="1945693"/>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Smallest working version: upload page, automatic fine-tuning, API that returns a verdict</a:t>
            </a:r>
            <a:endParaRPr lang="en-US" sz="1400" dirty="0"/>
          </a:p>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Test the under-100-images claim on two or three real defect types the model has never seen</a:t>
            </a:r>
            <a:endParaRPr lang="en-US" sz="1400" dirty="0"/>
          </a:p>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Publish the curve: accuracy against number of images</a:t>
            </a:r>
            <a:endParaRPr lang="en-US" sz="1400" dirty="0"/>
          </a:p>
        </p:txBody>
      </p:sp>
      <p:sp>
        <p:nvSpPr>
          <p:cNvPr id="8" name="Shape 6"/>
          <p:cNvSpPr/>
          <p:nvPr/>
        </p:nvSpPr>
        <p:spPr>
          <a:xfrm>
            <a:off x="4394175" y="1559365"/>
            <a:ext cx="3403650" cy="3100861"/>
          </a:xfrm>
          <a:prstGeom prst="roundRect">
            <a:avLst>
              <a:gd name="adj" fmla="val 2048"/>
            </a:avLst>
          </a:prstGeom>
          <a:solidFill>
            <a:srgbClr val="FFFFFF"/>
          </a:solidFill>
          <a:ln/>
        </p:spPr>
      </p:sp>
      <p:sp>
        <p:nvSpPr>
          <p:cNvPr id="9" name="Shape 7"/>
          <p:cNvSpPr/>
          <p:nvPr/>
        </p:nvSpPr>
        <p:spPr>
          <a:xfrm>
            <a:off x="4394175" y="1572065"/>
            <a:ext cx="3403650" cy="0"/>
          </a:xfrm>
          <a:prstGeom prst="line">
            <a:avLst/>
          </a:prstGeom>
          <a:noFill/>
          <a:ln w="25400">
            <a:solidFill>
              <a:srgbClr val="15618F"/>
            </a:solidFill>
            <a:prstDash val="solid"/>
          </a:ln>
        </p:spPr>
      </p:sp>
      <p:sp>
        <p:nvSpPr>
          <p:cNvPr id="10" name="Text 8"/>
          <p:cNvSpPr/>
          <p:nvPr/>
        </p:nvSpPr>
        <p:spPr>
          <a:xfrm>
            <a:off x="4622742" y="1811868"/>
            <a:ext cx="3034912"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A6410"/>
                </a:solidFill>
                <a:latin typeface="IBM Plex Sans" pitchFamily="34" charset="0"/>
                <a:ea typeface="IBM Plex Sans" pitchFamily="34" charset="-122"/>
                <a:cs typeface="IBM Plex Sans" pitchFamily="34" charset="-120"/>
              </a:rPr>
              <a:t>MONTH 2</a:t>
            </a:r>
            <a:endParaRPr lang="en-US" sz="1300" dirty="0"/>
          </a:p>
        </p:txBody>
      </p:sp>
      <p:sp>
        <p:nvSpPr>
          <p:cNvPr id="11" name="Text 9"/>
          <p:cNvSpPr/>
          <p:nvPr/>
        </p:nvSpPr>
        <p:spPr>
          <a:xfrm>
            <a:off x="4622742" y="2134189"/>
            <a:ext cx="3034912" cy="288293"/>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01820"/>
                </a:solidFill>
                <a:latin typeface="IBM Plex Sans" pitchFamily="34" charset="0"/>
                <a:ea typeface="IBM Plex Sans" pitchFamily="34" charset="-122"/>
                <a:cs typeface="IBM Plex Sans" pitchFamily="34" charset="-120"/>
              </a:rPr>
              <a:t>Prove someone uses it</a:t>
            </a:r>
            <a:endParaRPr lang="en-US" sz="2000" dirty="0"/>
          </a:p>
        </p:txBody>
      </p:sp>
      <p:sp>
        <p:nvSpPr>
          <p:cNvPr id="12" name="Text 10"/>
          <p:cNvSpPr/>
          <p:nvPr/>
        </p:nvSpPr>
        <p:spPr>
          <a:xfrm>
            <a:off x="4622742" y="2511366"/>
            <a:ext cx="3034912" cy="146562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Two or three real companies upload their own images and run inspections through the API</a:t>
            </a:r>
            <a:endParaRPr lang="en-US" sz="1400" dirty="0"/>
          </a:p>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At least one of them outside Bosch</a:t>
            </a:r>
            <a:endParaRPr lang="en-US" sz="1400" dirty="0"/>
          </a:p>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Watch actual usage against the token prices — behaviour, not opinions</a:t>
            </a:r>
            <a:endParaRPr lang="en-US" sz="1400" dirty="0"/>
          </a:p>
        </p:txBody>
      </p:sp>
      <p:sp>
        <p:nvSpPr>
          <p:cNvPr id="13" name="Shape 11"/>
          <p:cNvSpPr/>
          <p:nvPr/>
        </p:nvSpPr>
        <p:spPr>
          <a:xfrm>
            <a:off x="7975608" y="1559365"/>
            <a:ext cx="3403608" cy="3100861"/>
          </a:xfrm>
          <a:prstGeom prst="roundRect">
            <a:avLst>
              <a:gd name="adj" fmla="val 2048"/>
            </a:avLst>
          </a:prstGeom>
          <a:solidFill>
            <a:srgbClr val="FFFFFF"/>
          </a:solidFill>
          <a:ln/>
        </p:spPr>
      </p:sp>
      <p:sp>
        <p:nvSpPr>
          <p:cNvPr id="14" name="Shape 12"/>
          <p:cNvSpPr/>
          <p:nvPr/>
        </p:nvSpPr>
        <p:spPr>
          <a:xfrm>
            <a:off x="7975608" y="1572065"/>
            <a:ext cx="3403608" cy="0"/>
          </a:xfrm>
          <a:prstGeom prst="line">
            <a:avLst/>
          </a:prstGeom>
          <a:noFill/>
          <a:ln w="25400">
            <a:solidFill>
              <a:srgbClr val="15618F"/>
            </a:solidFill>
            <a:prstDash val="solid"/>
          </a:ln>
        </p:spPr>
      </p:sp>
      <p:sp>
        <p:nvSpPr>
          <p:cNvPr id="15" name="Text 13"/>
          <p:cNvSpPr/>
          <p:nvPr/>
        </p:nvSpPr>
        <p:spPr>
          <a:xfrm>
            <a:off x="8204175" y="1811868"/>
            <a:ext cx="3034869" cy="233437"/>
          </a:xfrm>
          <a:prstGeom prst="rect">
            <a:avLst/>
          </a:prstGeom>
          <a:noFill/>
          <a:ln/>
        </p:spPr>
        <p:txBody>
          <a:bodyPr wrap="square" lIns="0" tIns="0" rIns="0" bIns="0" rtlCol="0" anchor="t">
            <a:normAutofit/>
          </a:bodyPr>
          <a:lstStyle/>
          <a:p>
            <a:pPr algn="l" indent="0" marL="0">
              <a:lnSpc>
                <a:spcPts val="1820"/>
              </a:lnSpc>
              <a:buNone/>
            </a:pPr>
            <a:r>
              <a:rPr lang="en-US" sz="1300" b="1" spc="150" kern="0" dirty="0">
                <a:solidFill>
                  <a:srgbClr val="9A6410"/>
                </a:solidFill>
                <a:latin typeface="IBM Plex Sans" pitchFamily="34" charset="0"/>
                <a:ea typeface="IBM Plex Sans" pitchFamily="34" charset="-122"/>
                <a:cs typeface="IBM Plex Sans" pitchFamily="34" charset="-120"/>
              </a:rPr>
              <a:t>MONTH 3</a:t>
            </a:r>
            <a:endParaRPr lang="en-US" sz="1300" dirty="0"/>
          </a:p>
        </p:txBody>
      </p:sp>
      <p:sp>
        <p:nvSpPr>
          <p:cNvPr id="16" name="Text 14"/>
          <p:cNvSpPr/>
          <p:nvPr/>
        </p:nvSpPr>
        <p:spPr>
          <a:xfrm>
            <a:off x="8204175" y="2134189"/>
            <a:ext cx="3034869" cy="288293"/>
          </a:xfrm>
          <a:prstGeom prst="rect">
            <a:avLst/>
          </a:prstGeom>
          <a:noFill/>
          <a:ln/>
        </p:spPr>
        <p:txBody>
          <a:bodyPr wrap="square" lIns="0" tIns="0" rIns="0" bIns="0" rtlCol="0" anchor="t">
            <a:normAutofit/>
          </a:bodyPr>
          <a:lstStyle/>
          <a:p>
            <a:pPr algn="l" indent="0" marL="0">
              <a:lnSpc>
                <a:spcPts val="2300"/>
              </a:lnSpc>
              <a:buNone/>
            </a:pPr>
            <a:r>
              <a:rPr lang="en-US" sz="2000" b="1" dirty="0">
                <a:solidFill>
                  <a:srgbClr val="101820"/>
                </a:solidFill>
                <a:latin typeface="IBM Plex Sans" pitchFamily="34" charset="0"/>
                <a:ea typeface="IBM Plex Sans" pitchFamily="34" charset="-122"/>
                <a:cs typeface="IBM Plex Sans" pitchFamily="34" charset="-120"/>
              </a:rPr>
              <a:t>Prove it is a business</a:t>
            </a:r>
            <a:endParaRPr lang="en-US" sz="2000" dirty="0"/>
          </a:p>
        </p:txBody>
      </p:sp>
      <p:sp>
        <p:nvSpPr>
          <p:cNvPr id="17" name="Text 15"/>
          <p:cNvSpPr/>
          <p:nvPr/>
        </p:nvSpPr>
        <p:spPr>
          <a:xfrm>
            <a:off x="8204175" y="2511366"/>
            <a:ext cx="3034869" cy="1465620"/>
          </a:xfrm>
          <a:prstGeom prst="rect">
            <a:avLst/>
          </a:prstGeom>
          <a:noFill/>
          <a:ln/>
        </p:spPr>
        <p:txBody>
          <a:bodyPr wrap="square" lIns="0" tIns="0" rIns="0" bIns="0" rtlCol="0" anchor="t">
            <a:normAutofit/>
          </a:bodyPr>
          <a:lstStyle/>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Turn one pilot into a paid, priced commitment</a:t>
            </a:r>
            <a:endParaRPr lang="en-US" sz="1400" dirty="0"/>
          </a:p>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Re-set token pricing from measured usage rather than assumption</a:t>
            </a:r>
            <a:endParaRPr lang="en-US" sz="1400" dirty="0"/>
          </a:p>
          <a:p>
            <a:pPr algn="l" marL="342900" indent="-342900">
              <a:lnSpc>
                <a:spcPts val="2100"/>
              </a:lnSpc>
              <a:buSzPct val="100000"/>
              <a:buChar char="•"/>
            </a:pPr>
            <a:r>
              <a:rPr lang="en-US" sz="1400" dirty="0">
                <a:solidFill>
                  <a:srgbClr val="4C5A66"/>
                </a:solidFill>
                <a:latin typeface="IBM Plex Sans" pitchFamily="34" charset="0"/>
                <a:ea typeface="IBM Plex Sans" pitchFamily="34" charset="-122"/>
                <a:cs typeface="IBM Plex Sans" pitchFamily="34" charset="-120"/>
              </a:rPr>
              <a:t>Investment case written so it survives without us in the room</a:t>
            </a:r>
            <a:endParaRPr lang="en-US" sz="1400" dirty="0"/>
          </a:p>
        </p:txBody>
      </p:sp>
      <p:sp>
        <p:nvSpPr>
          <p:cNvPr id="18" name="Shape 16"/>
          <p:cNvSpPr/>
          <p:nvPr/>
        </p:nvSpPr>
        <p:spPr>
          <a:xfrm>
            <a:off x="812783" y="4888793"/>
            <a:ext cx="10566433" cy="827328"/>
          </a:xfrm>
          <a:prstGeom prst="roundRect">
            <a:avLst>
              <a:gd name="adj" fmla="val 3070"/>
            </a:avLst>
          </a:prstGeom>
          <a:solidFill>
            <a:srgbClr val="E7ECEF"/>
          </a:solidFill>
          <a:ln/>
        </p:spPr>
      </p:sp>
      <p:sp>
        <p:nvSpPr>
          <p:cNvPr id="19" name="Shape 17"/>
          <p:cNvSpPr/>
          <p:nvPr/>
        </p:nvSpPr>
        <p:spPr>
          <a:xfrm>
            <a:off x="825483" y="4888793"/>
            <a:ext cx="0" cy="827328"/>
          </a:xfrm>
          <a:prstGeom prst="line">
            <a:avLst/>
          </a:prstGeom>
          <a:noFill/>
          <a:ln w="25400">
            <a:solidFill>
              <a:srgbClr val="9A6410"/>
            </a:solidFill>
            <a:prstDash val="solid"/>
          </a:ln>
        </p:spPr>
      </p:sp>
      <p:sp>
        <p:nvSpPr>
          <p:cNvPr id="20" name="Text 18"/>
          <p:cNvSpPr/>
          <p:nvPr/>
        </p:nvSpPr>
        <p:spPr>
          <a:xfrm>
            <a:off x="1039920" y="5053893"/>
            <a:ext cx="10440179" cy="522528"/>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101820"/>
                </a:solidFill>
                <a:latin typeface="IBM Plex Sans" pitchFamily="34" charset="0"/>
                <a:ea typeface="IBM Plex Sans" pitchFamily="34" charset="-122"/>
                <a:cs typeface="IBM Plex Sans" pitchFamily="34" charset="-120"/>
              </a:rPr>
              <a:t>What would make us stop: if a new defect needs more than 250 images to reach a usable accuracy, the promise in this deck is false. We would rather report that in week four than defend it for a year.</a:t>
            </a:r>
            <a:endParaRPr lang="en-US" sz="1500" dirty="0"/>
          </a:p>
        </p:txBody>
      </p:sp>
      <p:sp>
        <p:nvSpPr>
          <p:cNvPr id="21" name="Text 19"/>
          <p:cNvSpPr/>
          <p:nvPr/>
        </p:nvSpPr>
        <p:spPr>
          <a:xfrm>
            <a:off x="812783" y="6259612"/>
            <a:ext cx="204979" cy="217396"/>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C8B96"/>
                </a:solidFill>
                <a:latin typeface="IBM Plex Sans" pitchFamily="34" charset="0"/>
                <a:ea typeface="IBM Plex Sans" pitchFamily="34" charset="-122"/>
                <a:cs typeface="IBM Plex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5618F"/>
        </a:solidFill>
      </p:bgPr>
    </p:bg>
    <p:spTree>
      <p:nvGrpSpPr>
        <p:cNvPr id="1" name=""/>
        <p:cNvGrpSpPr/>
        <p:nvPr/>
      </p:nvGrpSpPr>
      <p:grpSpPr>
        <a:xfrm>
          <a:off x="0" y="0"/>
          <a:ext cx="0" cy="0"/>
          <a:chOff x="0" y="0"/>
          <a:chExt cx="0" cy="0"/>
        </a:xfrm>
      </p:grpSpPr>
      <p:sp>
        <p:nvSpPr>
          <p:cNvPr id="2" name="Text 0"/>
          <p:cNvSpPr/>
          <p:nvPr/>
        </p:nvSpPr>
        <p:spPr>
          <a:xfrm>
            <a:off x="812783" y="1996343"/>
            <a:ext cx="10203180" cy="2003209"/>
          </a:xfrm>
          <a:prstGeom prst="rect">
            <a:avLst/>
          </a:prstGeom>
          <a:noFill/>
          <a:ln/>
        </p:spPr>
        <p:txBody>
          <a:bodyPr wrap="square" lIns="0" tIns="0" rIns="0" bIns="0" rtlCol="0" anchor="t">
            <a:normAutofit/>
          </a:bodyPr>
          <a:lstStyle/>
          <a:p>
            <a:pPr algn="l" indent="0" marL="0">
              <a:lnSpc>
                <a:spcPts val="5768"/>
              </a:lnSpc>
              <a:buNone/>
            </a:pPr>
            <a:r>
              <a:rPr lang="en-US" sz="5600" b="1" dirty="0">
                <a:solidFill>
                  <a:srgbClr val="FFFFFF"/>
                </a:solidFill>
                <a:latin typeface="Barlow Condensed" pitchFamily="34" charset="0"/>
                <a:ea typeface="Barlow Condensed" pitchFamily="34" charset="-122"/>
                <a:cs typeface="Barlow Condensed" pitchFamily="34" charset="-120"/>
              </a:rPr>
              <a:t>The model is the easy part. Getting a factory to upload its defects is the business.</a:t>
            </a:r>
            <a:endParaRPr lang="en-US" sz="5600" dirty="0"/>
          </a:p>
        </p:txBody>
      </p:sp>
      <p:sp>
        <p:nvSpPr>
          <p:cNvPr id="3" name="Text 1"/>
          <p:cNvSpPr/>
          <p:nvPr/>
        </p:nvSpPr>
        <p:spPr>
          <a:xfrm>
            <a:off x="812783" y="4253545"/>
            <a:ext cx="9156700" cy="633471"/>
          </a:xfrm>
          <a:prstGeom prst="rect">
            <a:avLst/>
          </a:prstGeom>
          <a:noFill/>
          <a:ln/>
        </p:spPr>
        <p:txBody>
          <a:bodyPr wrap="square" lIns="0" tIns="0" rIns="0" bIns="0" rtlCol="0" anchor="t">
            <a:normAutofit/>
          </a:bodyPr>
          <a:lstStyle/>
          <a:p>
            <a:pPr algn="l" indent="0" marL="0">
              <a:lnSpc>
                <a:spcPts val="2660"/>
              </a:lnSpc>
              <a:buNone/>
            </a:pPr>
            <a:r>
              <a:rPr lang="en-US" sz="1900" dirty="0">
                <a:solidFill>
                  <a:srgbClr val="D3E6F3"/>
                </a:solidFill>
                <a:latin typeface="IBM Plex Sans" pitchFamily="34" charset="0"/>
                <a:ea typeface="IBM Plex Sans" pitchFamily="34" charset="-122"/>
                <a:cs typeface="IBM Plex Sans" pitchFamily="34" charset="-120"/>
              </a:rPr>
              <a:t>We are two engineers who would rather spend three months finding that out than three months building something nobody uploads to.</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Inspection in Hours</dc:title>
  <dc:subject>PptxGenJS Presentation</dc:subject>
  <dc:creator>PptxGenJS</dc:creator>
  <cp:lastModifiedBy>PptxGenJS</cp:lastModifiedBy>
  <cp:revision>1</cp:revision>
  <dcterms:created xsi:type="dcterms:W3CDTF">2026-09-17T20:16:35Z</dcterms:created>
  <dcterms:modified xsi:type="dcterms:W3CDTF">2026-09-17T20:16:35Z</dcterms:modified>
</cp:coreProperties>
</file>